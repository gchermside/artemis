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2" r:id="rId1"/>
  </p:sldMasterIdLst>
  <p:notesMasterIdLst>
    <p:notesMasterId r:id="rId55"/>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26" d="100"/>
          <a:sy n="126" d="100"/>
        </p:scale>
        <p:origin x="-1194" y="-10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A41DA27-C8D5-4074-AAAC-8FF322418B39}" type="datetimeFigureOut">
              <a:rPr lang="en-US" smtClean="0"/>
              <a:t>6/29/2012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BE2C295-13B6-49FC-AE3E-4F4FB6F9342D}" type="slidenum">
              <a:rPr lang="en-US" smtClean="0"/>
              <a:t>‹#›</a:t>
            </a:fld>
            <a:endParaRPr lang="en-US"/>
          </a:p>
        </p:txBody>
      </p:sp>
    </p:spTree>
    <p:extLst>
      <p:ext uri="{BB962C8B-B14F-4D97-AF65-F5344CB8AC3E}">
        <p14:creationId xmlns:p14="http://schemas.microsoft.com/office/powerpoint/2010/main" val="31969909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9854AA85-8B4F-4257-9257-2CDA73E7959D}" type="slidenum">
              <a:rPr lang="en-US"/>
              <a:pPr eaLnBrk="1" hangingPunct="1"/>
              <a:t>1</a:t>
            </a:fld>
            <a:endParaRPr lang="en-US"/>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DE8AA8B2-CEF4-4557-8144-A20A0158827D}" type="slidenum">
              <a:rPr lang="en-US"/>
              <a:pPr eaLnBrk="1" hangingPunct="1"/>
              <a:t>2</a:t>
            </a:fld>
            <a:endParaRPr lang="en-US"/>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FDBCC9DD-FF3D-4EE0-A6BC-EE78F9B88FA8}" type="slidenum">
              <a:rPr lang="en-US"/>
              <a:pPr eaLnBrk="1" hangingPunct="1"/>
              <a:t>3</a:t>
            </a:fld>
            <a:endParaRPr lang="en-US"/>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2A5441E3-7B14-4C75-A4B6-AACC0C59F255}" type="slidenum">
              <a:rPr lang="en-US"/>
              <a:pPr eaLnBrk="1" hangingPunct="1"/>
              <a:t>4</a:t>
            </a:fld>
            <a:endParaRPr lang="en-US"/>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0D2E9345-09D7-4AD0-B119-29861BC4F534}" type="slidenum">
              <a:rPr lang="en-US"/>
              <a:pPr eaLnBrk="1" hangingPunct="1"/>
              <a:t>5</a:t>
            </a:fld>
            <a:endParaRPr lang="en-US"/>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AE890161-9D3E-4286-82D6-5A8EB8DAC60F}" type="slidenum">
              <a:rPr lang="en-US"/>
              <a:pPr eaLnBrk="1" hangingPunct="1"/>
              <a:t>6</a:t>
            </a:fld>
            <a:endParaRPr lang="en-US"/>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DA62333D-58B3-4402-B62C-173898EEA800}" type="slidenum">
              <a:rPr lang="en-US"/>
              <a:pPr eaLnBrk="1" hangingPunct="1"/>
              <a:t>7</a:t>
            </a:fld>
            <a:endParaRPr lang="en-US"/>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D34CA304-C8DE-4D53-A251-392E8B218DD1}" type="slidenum">
              <a:rPr lang="en-US"/>
              <a:pPr eaLnBrk="1" hangingPunct="1"/>
              <a:t>8</a:t>
            </a:fld>
            <a:endParaRPr lang="en-US"/>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3D5ECF08-DC65-44DB-879D-CE8990FE2ACF}" type="slidenum">
              <a:rPr lang="en-US"/>
              <a:pPr eaLnBrk="1" hangingPunct="1"/>
              <a:t>9</a:t>
            </a:fld>
            <a:endParaRPr lang="en-US"/>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BF1093AB-2999-4873-B375-3E71ECEC1657}" type="slidenum">
              <a:rPr lang="en-US"/>
              <a:pPr eaLnBrk="1" hangingPunct="1"/>
              <a:t>10</a:t>
            </a:fld>
            <a:endParaRPr lang="en-US"/>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35613CA8-6F67-44BB-98CC-06D3C3657A83}" type="slidenum">
              <a:rPr lang="en-US"/>
              <a:pPr eaLnBrk="1" hangingPunct="1"/>
              <a:t>11</a:t>
            </a:fld>
            <a:endParaRPr lang="en-US"/>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B31841B0-327B-4779-B95B-D9CE598F8D69}" type="slidenum">
              <a:rPr lang="en-US"/>
              <a:pPr eaLnBrk="1" hangingPunct="1"/>
              <a:t>12</a:t>
            </a:fld>
            <a:endParaRPr lang="en-US"/>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63721FB6-988D-416A-941D-280F50BA8EAE}" type="slidenum">
              <a:rPr lang="en-US"/>
              <a:pPr eaLnBrk="1" hangingPunct="1"/>
              <a:t>13</a:t>
            </a:fld>
            <a:endParaRPr lang="en-US"/>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8FC6FF3B-6588-4620-9FAA-41828E0077EA}" type="slidenum">
              <a:rPr lang="en-US"/>
              <a:pPr eaLnBrk="1" hangingPunct="1"/>
              <a:t>14</a:t>
            </a:fld>
            <a:endParaRPr lang="en-US"/>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25296FC5-3CE2-48C5-B12A-57C86BE78ACB}" type="slidenum">
              <a:rPr lang="en-US"/>
              <a:pPr eaLnBrk="1" hangingPunct="1"/>
              <a:t>15</a:t>
            </a:fld>
            <a:endParaRPr lang="en-US"/>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B3F484FE-3704-43E7-8D5B-706E8EDE2255}" type="slidenum">
              <a:rPr lang="en-US"/>
              <a:pPr eaLnBrk="1" hangingPunct="1"/>
              <a:t>16</a:t>
            </a:fld>
            <a:endParaRPr lang="en-US"/>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45265A83-88F8-43E1-9DF1-FCCC0FB45A23}" type="slidenum">
              <a:rPr lang="en-US"/>
              <a:pPr eaLnBrk="1" hangingPunct="1"/>
              <a:t>17</a:t>
            </a:fld>
            <a:endParaRPr lang="en-US"/>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CA5E4F31-B9CB-45E0-B029-A982EAE755D3}" type="slidenum">
              <a:rPr lang="en-US"/>
              <a:pPr eaLnBrk="1" hangingPunct="1"/>
              <a:t>18</a:t>
            </a:fld>
            <a:endParaRPr lang="en-US"/>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FC9C24EA-5547-49A5-BF11-F905C5C55671}" type="slidenum">
              <a:rPr lang="en-US"/>
              <a:pPr eaLnBrk="1" hangingPunct="1"/>
              <a:t>19</a:t>
            </a:fld>
            <a:endParaRPr lang="en-US"/>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BF79FA95-4381-4F31-B4A7-EFCF68302358}" type="slidenum">
              <a:rPr lang="en-US"/>
              <a:pPr eaLnBrk="1" hangingPunct="1"/>
              <a:t>20</a:t>
            </a:fld>
            <a:endParaRPr lang="en-US"/>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E835A659-B073-4918-B3C5-D3E5138A7074}" type="slidenum">
              <a:rPr lang="en-US"/>
              <a:pPr eaLnBrk="1" hangingPunct="1"/>
              <a:t>21</a:t>
            </a:fld>
            <a:endParaRPr lang="en-US"/>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1158CFE7-88F0-4455-880D-F53126EC64AD}" type="slidenum">
              <a:rPr lang="en-US"/>
              <a:pPr eaLnBrk="1" hangingPunct="1"/>
              <a:t>22</a:t>
            </a:fld>
            <a:endParaRPr lang="en-US"/>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1895791D-8E93-4951-AAD4-47999DCB1FBC}" type="slidenum">
              <a:rPr lang="en-US"/>
              <a:pPr eaLnBrk="1" hangingPunct="1"/>
              <a:t>23</a:t>
            </a:fld>
            <a:endParaRPr lang="en-US"/>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4131CB1B-959E-4BF3-9575-3903B567791A}" type="slidenum">
              <a:rPr lang="en-US"/>
              <a:pPr eaLnBrk="1" hangingPunct="1"/>
              <a:t>24</a:t>
            </a:fld>
            <a:endParaRPr lang="en-US"/>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F608A1E9-1E4A-4B89-B287-96488BF4C323}" type="slidenum">
              <a:rPr lang="en-US"/>
              <a:pPr eaLnBrk="1" hangingPunct="1"/>
              <a:t>25</a:t>
            </a:fld>
            <a:endParaRPr lang="en-US"/>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CA33E0DA-4071-46EC-B066-68D4A1183FBF}" type="slidenum">
              <a:rPr lang="en-US"/>
              <a:pPr eaLnBrk="1" hangingPunct="1"/>
              <a:t>26</a:t>
            </a:fld>
            <a:endParaRPr lang="en-US"/>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88085726-F6F7-48B8-8256-D92DA6C4C5DE}" type="slidenum">
              <a:rPr lang="en-US"/>
              <a:pPr eaLnBrk="1" hangingPunct="1"/>
              <a:t>27</a:t>
            </a:fld>
            <a:endParaRPr lang="en-US"/>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668C1ED7-3339-459E-A9BE-983525E02748}" type="slidenum">
              <a:rPr lang="en-US"/>
              <a:pPr eaLnBrk="1" hangingPunct="1"/>
              <a:t>28</a:t>
            </a:fld>
            <a:endParaRPr lang="en-US"/>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BF41A56D-5426-4ABD-82E0-4B0C7EF20C40}" type="slidenum">
              <a:rPr lang="en-US"/>
              <a:pPr eaLnBrk="1" hangingPunct="1"/>
              <a:t>29</a:t>
            </a:fld>
            <a:endParaRPr lang="en-US"/>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27A349A6-0469-4AED-A42E-5B2AF7A3B774}" type="slidenum">
              <a:rPr lang="en-US"/>
              <a:pPr eaLnBrk="1" hangingPunct="1"/>
              <a:t>30</a:t>
            </a:fld>
            <a:endParaRPr lang="en-US"/>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FB940191-3E20-478F-B15A-5ABB58D340F2}" type="slidenum">
              <a:rPr lang="en-US"/>
              <a:pPr eaLnBrk="1" hangingPunct="1"/>
              <a:t>31</a:t>
            </a:fld>
            <a:endParaRPr lang="en-US"/>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37F62839-CBB6-440F-946B-5D2CA0CEF9B8}" type="slidenum">
              <a:rPr lang="en-US"/>
              <a:pPr eaLnBrk="1" hangingPunct="1"/>
              <a:t>32</a:t>
            </a:fld>
            <a:endParaRPr lang="en-US"/>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829ECCEE-C38A-4D4A-A5E5-3F72E68BE310}" type="slidenum">
              <a:rPr lang="en-US"/>
              <a:pPr eaLnBrk="1" hangingPunct="1"/>
              <a:t>33</a:t>
            </a:fld>
            <a:endParaRPr lang="en-US"/>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524038E6-100D-434F-8DA8-9C09B1016A01}" type="slidenum">
              <a:rPr lang="en-US"/>
              <a:pPr eaLnBrk="1" hangingPunct="1"/>
              <a:t>34</a:t>
            </a:fld>
            <a:endParaRPr lang="en-US"/>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97D2593E-F9BC-4116-9698-E576D7699C4D}" type="slidenum">
              <a:rPr lang="en-US"/>
              <a:pPr eaLnBrk="1" hangingPunct="1"/>
              <a:t>35</a:t>
            </a:fld>
            <a:endParaRPr lang="en-US"/>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0FA07836-2847-489A-A319-946B93A93202}" type="slidenum">
              <a:rPr lang="en-US"/>
              <a:pPr eaLnBrk="1" hangingPunct="1"/>
              <a:t>36</a:t>
            </a:fld>
            <a:endParaRPr lang="en-US"/>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408C0B49-68EA-4526-8BD6-D25C42259345}" type="slidenum">
              <a:rPr lang="en-US"/>
              <a:pPr eaLnBrk="1" hangingPunct="1"/>
              <a:t>37</a:t>
            </a:fld>
            <a:endParaRPr lang="en-US"/>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6322D319-AEE5-4AA2-83BF-48D65B6A4687}" type="slidenum">
              <a:rPr lang="en-US"/>
              <a:pPr eaLnBrk="1" hangingPunct="1"/>
              <a:t>38</a:t>
            </a:fld>
            <a:endParaRPr lang="en-US"/>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65407EE4-C697-45A4-B925-F7F103F6CD17}" type="slidenum">
              <a:rPr lang="en-US"/>
              <a:pPr eaLnBrk="1" hangingPunct="1"/>
              <a:t>39</a:t>
            </a:fld>
            <a:endParaRPr lang="en-US"/>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CC3BE15B-2179-4BA3-B579-F2BAB29F8519}" type="slidenum">
              <a:rPr lang="en-US"/>
              <a:pPr eaLnBrk="1" hangingPunct="1"/>
              <a:t>40</a:t>
            </a:fld>
            <a:endParaRPr lang="en-US"/>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F4535FD9-441D-475F-8F30-ED17B3F329D2}" type="slidenum">
              <a:rPr lang="en-US"/>
              <a:pPr eaLnBrk="1" hangingPunct="1"/>
              <a:t>41</a:t>
            </a:fld>
            <a:endParaRPr lang="en-US"/>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E259BB4F-3480-437B-83A1-1A238839962F}" type="slidenum">
              <a:rPr lang="en-US"/>
              <a:pPr eaLnBrk="1" hangingPunct="1"/>
              <a:t>42</a:t>
            </a:fld>
            <a:endParaRPr lang="en-US"/>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D7C5DC11-586D-47ED-AA81-ABDB24F2AC2D}" type="slidenum">
              <a:rPr lang="en-US"/>
              <a:pPr eaLnBrk="1" hangingPunct="1"/>
              <a:t>43</a:t>
            </a:fld>
            <a:endParaRPr lang="en-US"/>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8EDC73D4-83E2-4706-8F58-2FC1CAAC709A}" type="slidenum">
              <a:rPr lang="en-US"/>
              <a:pPr eaLnBrk="1" hangingPunct="1"/>
              <a:t>44</a:t>
            </a:fld>
            <a:endParaRPr lang="en-US"/>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EA5F78D1-233E-413B-A65E-1729C7CF59F6}" type="slidenum">
              <a:rPr lang="en-US"/>
              <a:pPr eaLnBrk="1" hangingPunct="1"/>
              <a:t>45</a:t>
            </a:fld>
            <a:endParaRPr lang="en-US"/>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AD37BE9A-44FA-495D-A663-4E0C7F453A39}" type="slidenum">
              <a:rPr lang="en-US"/>
              <a:pPr eaLnBrk="1" hangingPunct="1"/>
              <a:t>46</a:t>
            </a:fld>
            <a:endParaRPr lang="en-US"/>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5AA022A5-B80F-4155-B275-B36E649C786F}" type="slidenum">
              <a:rPr lang="en-US"/>
              <a:pPr eaLnBrk="1" hangingPunct="1"/>
              <a:t>47</a:t>
            </a:fld>
            <a:endParaRPr lang="en-US"/>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18BD8D25-E8E0-41BE-93A4-DA12C51D4278}" type="slidenum">
              <a:rPr lang="en-US"/>
              <a:pPr eaLnBrk="1" hangingPunct="1"/>
              <a:t>48</a:t>
            </a:fld>
            <a:endParaRPr lang="en-US"/>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22DAF50E-5181-403F-888A-E375DC9C9217}" type="slidenum">
              <a:rPr lang="en-US"/>
              <a:pPr eaLnBrk="1" hangingPunct="1"/>
              <a:t>49</a:t>
            </a:fld>
            <a:endParaRPr lang="en-US"/>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24EDFB4C-F561-4970-B9F2-7495AC547E68}" type="slidenum">
              <a:rPr lang="en-US"/>
              <a:pPr eaLnBrk="1" hangingPunct="1"/>
              <a:t>50</a:t>
            </a:fld>
            <a:endParaRPr lang="en-US"/>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F3B0F6DA-F163-4B82-9E92-3E0C3F32733E}" type="slidenum">
              <a:rPr lang="en-US"/>
              <a:pPr eaLnBrk="1" hangingPunct="1"/>
              <a:t>51</a:t>
            </a:fld>
            <a:endParaRPr lang="en-US"/>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4457D053-926E-4D36-AA4C-620CB319004D}" type="slidenum">
              <a:rPr lang="en-US"/>
              <a:pPr eaLnBrk="1" hangingPunct="1"/>
              <a:t>52</a:t>
            </a:fld>
            <a:endParaRPr lang="en-US"/>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02756" indent="-270291" eaLnBrk="0" hangingPunct="0">
              <a:defRPr>
                <a:solidFill>
                  <a:schemeClr val="tx1"/>
                </a:solidFill>
                <a:latin typeface="Arial" charset="0"/>
              </a:defRPr>
            </a:lvl2pPr>
            <a:lvl3pPr marL="1081164" indent="-216233" eaLnBrk="0" hangingPunct="0">
              <a:defRPr>
                <a:solidFill>
                  <a:schemeClr val="tx1"/>
                </a:solidFill>
                <a:latin typeface="Arial" charset="0"/>
              </a:defRPr>
            </a:lvl3pPr>
            <a:lvl4pPr marL="1513629" indent="-216233" eaLnBrk="0" hangingPunct="0">
              <a:defRPr>
                <a:solidFill>
                  <a:schemeClr val="tx1"/>
                </a:solidFill>
                <a:latin typeface="Arial" charset="0"/>
              </a:defRPr>
            </a:lvl4pPr>
            <a:lvl5pPr marL="1946095" indent="-216233" eaLnBrk="0" hangingPunct="0">
              <a:defRPr>
                <a:solidFill>
                  <a:schemeClr val="tx1"/>
                </a:solidFill>
                <a:latin typeface="Arial" charset="0"/>
              </a:defRPr>
            </a:lvl5pPr>
            <a:lvl6pPr marL="2378560" indent="-216233" eaLnBrk="0" fontAlgn="base" hangingPunct="0">
              <a:spcBef>
                <a:spcPct val="0"/>
              </a:spcBef>
              <a:spcAft>
                <a:spcPct val="0"/>
              </a:spcAft>
              <a:defRPr>
                <a:solidFill>
                  <a:schemeClr val="tx1"/>
                </a:solidFill>
                <a:latin typeface="Arial" charset="0"/>
              </a:defRPr>
            </a:lvl6pPr>
            <a:lvl7pPr marL="2811026" indent="-216233" eaLnBrk="0" fontAlgn="base" hangingPunct="0">
              <a:spcBef>
                <a:spcPct val="0"/>
              </a:spcBef>
              <a:spcAft>
                <a:spcPct val="0"/>
              </a:spcAft>
              <a:defRPr>
                <a:solidFill>
                  <a:schemeClr val="tx1"/>
                </a:solidFill>
                <a:latin typeface="Arial" charset="0"/>
              </a:defRPr>
            </a:lvl7pPr>
            <a:lvl8pPr marL="3243491" indent="-216233" eaLnBrk="0" fontAlgn="base" hangingPunct="0">
              <a:spcBef>
                <a:spcPct val="0"/>
              </a:spcBef>
              <a:spcAft>
                <a:spcPct val="0"/>
              </a:spcAft>
              <a:defRPr>
                <a:solidFill>
                  <a:schemeClr val="tx1"/>
                </a:solidFill>
                <a:latin typeface="Arial" charset="0"/>
              </a:defRPr>
            </a:lvl8pPr>
            <a:lvl9pPr marL="3675957" indent="-216233" eaLnBrk="0" fontAlgn="base" hangingPunct="0">
              <a:spcBef>
                <a:spcPct val="0"/>
              </a:spcBef>
              <a:spcAft>
                <a:spcPct val="0"/>
              </a:spcAft>
              <a:defRPr>
                <a:solidFill>
                  <a:schemeClr val="tx1"/>
                </a:solidFill>
                <a:latin typeface="Arial" charset="0"/>
              </a:defRPr>
            </a:lvl9pPr>
          </a:lstStyle>
          <a:p>
            <a:pPr eaLnBrk="1" hangingPunct="1"/>
            <a:fld id="{F75F17CC-BC4B-417B-A9CE-5B3669CCE251}" type="slidenum">
              <a:rPr lang="en-US"/>
              <a:pPr eaLnBrk="1" hangingPunct="1"/>
              <a:t>53</a:t>
            </a:fld>
            <a:endParaRPr lang="en-US"/>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8F29E402-AEF8-4EF0-9456-8CF25B6484F7}" type="datetimeFigureOut">
              <a:rPr lang="en-US" smtClean="0"/>
              <a:t>6/29/2012</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8ADBA563-02E2-4E34-974B-1A2C10F4A2E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8F29E402-AEF8-4EF0-9456-8CF25B6484F7}" type="datetimeFigureOut">
              <a:rPr lang="en-US" smtClean="0"/>
              <a:t>6/29/2012</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8ADBA563-02E2-4E34-974B-1A2C10F4A2E3}" type="slidenum">
              <a:rPr lang="en-US" smtClean="0"/>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8F29E402-AEF8-4EF0-9456-8CF25B6484F7}" type="datetimeFigureOut">
              <a:rPr lang="en-US" smtClean="0"/>
              <a:t>6/29/2012</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8ADBA563-02E2-4E34-974B-1A2C10F4A2E3}" type="slidenum">
              <a:rPr lang="en-US" smtClean="0"/>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8F29E402-AEF8-4EF0-9456-8CF25B6484F7}" type="datetimeFigureOut">
              <a:rPr lang="en-US" smtClean="0"/>
              <a:t>6/29/2012</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8ADBA563-02E2-4E34-974B-1A2C10F4A2E3}" type="slidenum">
              <a:rPr lang="en-US" smtClean="0"/>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8F29E402-AEF8-4EF0-9456-8CF25B6484F7}" type="datetimeFigureOut">
              <a:rPr lang="en-US" smtClean="0"/>
              <a:t>6/29/2012</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8ADBA563-02E2-4E34-974B-1A2C10F4A2E3}"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8F29E402-AEF8-4EF0-9456-8CF25B6484F7}" type="datetimeFigureOut">
              <a:rPr lang="en-US" smtClean="0"/>
              <a:t>6/29/2012</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8ADBA563-02E2-4E34-974B-1A2C10F4A2E3}" type="slidenum">
              <a:rPr lang="en-US" smtClean="0"/>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8F29E402-AEF8-4EF0-9456-8CF25B6484F7}" type="datetimeFigureOut">
              <a:rPr lang="en-US" smtClean="0"/>
              <a:t>6/29/2012</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8ADBA563-02E2-4E34-974B-1A2C10F4A2E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8F29E402-AEF8-4EF0-9456-8CF25B6484F7}" type="datetimeFigureOut">
              <a:rPr lang="en-US" smtClean="0"/>
              <a:t>6/29/2012</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8ADBA563-02E2-4E34-974B-1A2C10F4A2E3}"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8F29E402-AEF8-4EF0-9456-8CF25B6484F7}" type="datetimeFigureOut">
              <a:rPr lang="en-US" smtClean="0"/>
              <a:t>6/29/2012</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8ADBA563-02E2-4E34-974B-1A2C10F4A2E3}" type="slidenum">
              <a:rPr lang="en-US" smtClean="0"/>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8F29E402-AEF8-4EF0-9456-8CF25B6484F7}" type="datetimeFigureOut">
              <a:rPr lang="en-US" smtClean="0"/>
              <a:t>6/29/2012</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8ADBA563-02E2-4E34-974B-1A2C10F4A2E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8F29E402-AEF8-4EF0-9456-8CF25B6484F7}" type="datetimeFigureOut">
              <a:rPr lang="en-US" smtClean="0"/>
              <a:t>6/29/2012</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8ADBA563-02E2-4E34-974B-1A2C10F4A2E3}"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7200" y="274638"/>
            <a:ext cx="8229600" cy="1143000"/>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457200" y="1600200"/>
            <a:ext cx="4038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600200"/>
            <a:ext cx="4038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57200" y="3938588"/>
            <a:ext cx="40386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8200" y="3938588"/>
            <a:ext cx="40386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4209ACDE-687E-4729-902B-22048106DE23}" type="slidenum">
              <a:rPr lang="en-US"/>
              <a:pPr>
                <a:defRPr/>
              </a:pPr>
              <a:t>‹#›</a:t>
            </a:fld>
            <a:endParaRPr lang="en-US"/>
          </a:p>
        </p:txBody>
      </p:sp>
    </p:spTree>
    <p:extLst>
      <p:ext uri="{BB962C8B-B14F-4D97-AF65-F5344CB8AC3E}">
        <p14:creationId xmlns:p14="http://schemas.microsoft.com/office/powerpoint/2010/main" val="15060558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8229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57200" y="3938588"/>
            <a:ext cx="82296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96DD174A-6FD4-4E64-90A7-62B8A8D0CFA2}" type="slidenum">
              <a:rPr lang="en-US"/>
              <a:pPr>
                <a:defRPr/>
              </a:pPr>
              <a:t>‹#›</a:t>
            </a:fld>
            <a:endParaRPr lang="en-US"/>
          </a:p>
        </p:txBody>
      </p:sp>
    </p:spTree>
    <p:extLst>
      <p:ext uri="{BB962C8B-B14F-4D97-AF65-F5344CB8AC3E}">
        <p14:creationId xmlns:p14="http://schemas.microsoft.com/office/powerpoint/2010/main" val="4292473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600200"/>
            <a:ext cx="4038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3938588"/>
            <a:ext cx="40386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E22DE62E-317F-41A7-945D-14B976708EB3}" type="slidenum">
              <a:rPr lang="en-US"/>
              <a:pPr>
                <a:defRPr/>
              </a:pPr>
              <a:t>‹#›</a:t>
            </a:fld>
            <a:endParaRPr lang="en-US"/>
          </a:p>
        </p:txBody>
      </p:sp>
    </p:spTree>
    <p:extLst>
      <p:ext uri="{BB962C8B-B14F-4D97-AF65-F5344CB8AC3E}">
        <p14:creationId xmlns:p14="http://schemas.microsoft.com/office/powerpoint/2010/main" val="409970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OverTx">
  <p:cSld name="Title and 2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457200" y="1600200"/>
            <a:ext cx="4038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600200"/>
            <a:ext cx="4038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half" idx="3"/>
          </p:nvPr>
        </p:nvSpPr>
        <p:spPr>
          <a:xfrm>
            <a:off x="457200" y="3938588"/>
            <a:ext cx="82296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E5B947F3-5466-432F-8840-DA1D05D8FE14}" type="slidenum">
              <a:rPr lang="en-US"/>
              <a:pPr>
                <a:defRPr/>
              </a:pPr>
              <a:t>‹#›</a:t>
            </a:fld>
            <a:endParaRPr lang="en-US"/>
          </a:p>
        </p:txBody>
      </p:sp>
    </p:spTree>
    <p:extLst>
      <p:ext uri="{BB962C8B-B14F-4D97-AF65-F5344CB8AC3E}">
        <p14:creationId xmlns:p14="http://schemas.microsoft.com/office/powerpoint/2010/main" val="8976039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AndObj">
  <p:cSld name="Title, 2 Conten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457200" y="1600200"/>
            <a:ext cx="4038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57200" y="3938588"/>
            <a:ext cx="40386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half" idx="3"/>
          </p:nvPr>
        </p:nvSpPr>
        <p:spPr>
          <a:xfrm>
            <a:off x="4648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E96079BF-F683-457A-B6F2-3A0C79CEB09E}" type="slidenum">
              <a:rPr lang="en-US"/>
              <a:pPr>
                <a:defRPr/>
              </a:pPr>
              <a:t>‹#›</a:t>
            </a:fld>
            <a:endParaRPr lang="en-US"/>
          </a:p>
        </p:txBody>
      </p:sp>
    </p:spTree>
    <p:extLst>
      <p:ext uri="{BB962C8B-B14F-4D97-AF65-F5344CB8AC3E}">
        <p14:creationId xmlns:p14="http://schemas.microsoft.com/office/powerpoint/2010/main" val="36131473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8">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8F29E402-AEF8-4EF0-9456-8CF25B6484F7}" type="datetimeFigureOut">
              <a:rPr lang="en-US" smtClean="0"/>
              <a:t>6/29/2012</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8ADBA563-02E2-4E34-974B-1A2C10F4A2E3}"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696" r:id="rId14"/>
    <p:sldLayoutId id="2147483697" r:id="rId15"/>
    <p:sldLayoutId id="2147483698" r:id="rId16"/>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cs.duke.edu/csed/alice/aliceInSchools/workshop08/tutorialTopics/ArraysLists/TutorialForArraysAndLists.ppt"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9.xml"/><Relationship Id="rId1" Type="http://schemas.openxmlformats.org/officeDocument/2006/relationships/slideLayout" Target="../slideLayouts/slideLayout12.xml"/><Relationship Id="rId4" Type="http://schemas.openxmlformats.org/officeDocument/2006/relationships/image" Target="../media/image44.png"/></Relationships>
</file>

<file path=ppt/slides/_rels/slide4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3.xml"/><Relationship Id="rId1" Type="http://schemas.openxmlformats.org/officeDocument/2006/relationships/slideLayout" Target="../slideLayouts/slideLayout12.xml"/><Relationship Id="rId4" Type="http://schemas.openxmlformats.org/officeDocument/2006/relationships/image" Target="../media/image49.png"/></Relationships>
</file>

<file path=ppt/slides/_rels/slide4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4.xml"/><Relationship Id="rId1" Type="http://schemas.openxmlformats.org/officeDocument/2006/relationships/slideLayout" Target="../slideLayouts/slideLayout16.xml"/></Relationships>
</file>

<file path=ppt/slides/_rels/slide4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85800" y="304800"/>
            <a:ext cx="7772400" cy="1470025"/>
          </a:xfrm>
        </p:spPr>
        <p:txBody>
          <a:bodyPr>
            <a:normAutofit fontScale="90000"/>
          </a:bodyPr>
          <a:lstStyle/>
          <a:p>
            <a:pPr eaLnBrk="1" hangingPunct="1"/>
            <a:r>
              <a:rPr lang="en-US" dirty="0" smtClean="0">
                <a:hlinkClick r:id="rId3"/>
              </a:rPr>
              <a:t>Tutorial for Arrays and Lists</a:t>
            </a:r>
            <a:endParaRPr lang="en-US" dirty="0" smtClean="0"/>
          </a:p>
        </p:txBody>
      </p:sp>
      <p:sp>
        <p:nvSpPr>
          <p:cNvPr id="2051" name="Rectangle 3"/>
          <p:cNvSpPr>
            <a:spLocks noGrp="1" noChangeArrowheads="1"/>
          </p:cNvSpPr>
          <p:nvPr>
            <p:ph type="subTitle" idx="1"/>
          </p:nvPr>
        </p:nvSpPr>
        <p:spPr>
          <a:xfrm>
            <a:off x="1371600" y="4876800"/>
            <a:ext cx="6400800" cy="1752600"/>
          </a:xfrm>
        </p:spPr>
        <p:txBody>
          <a:bodyPr>
            <a:normAutofit lnSpcReduction="10000"/>
          </a:bodyPr>
          <a:lstStyle/>
          <a:p>
            <a:pPr eaLnBrk="1" hangingPunct="1">
              <a:lnSpc>
                <a:spcPct val="90000"/>
              </a:lnSpc>
            </a:pPr>
            <a:r>
              <a:rPr lang="en-US" sz="2400" smtClean="0"/>
              <a:t>By Ruthie Tucker</a:t>
            </a:r>
          </a:p>
          <a:p>
            <a:pPr eaLnBrk="1" hangingPunct="1">
              <a:lnSpc>
                <a:spcPct val="90000"/>
              </a:lnSpc>
            </a:pPr>
            <a:r>
              <a:rPr lang="en-US" sz="2400" smtClean="0"/>
              <a:t>Under the direction of Professor Susan Rodger, Duke University 2008</a:t>
            </a:r>
          </a:p>
          <a:p>
            <a:pPr eaLnBrk="1" hangingPunct="1">
              <a:lnSpc>
                <a:spcPct val="90000"/>
              </a:lnSpc>
            </a:pPr>
            <a:r>
              <a:rPr lang="en-US" sz="2400" smtClean="0"/>
              <a:t>www.cs.duke.edu/csed/alice/aliceInSchools</a:t>
            </a:r>
          </a:p>
          <a:p>
            <a:pPr eaLnBrk="1" hangingPunct="1">
              <a:lnSpc>
                <a:spcPct val="90000"/>
              </a:lnSpc>
            </a:pPr>
            <a:endParaRPr lang="en-US" sz="2400" smtClean="0"/>
          </a:p>
        </p:txBody>
      </p:sp>
      <p:pic>
        <p:nvPicPr>
          <p:cNvPr id="2052"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1752600"/>
            <a:ext cx="3810000" cy="273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0876467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sz="quarter"/>
          </p:nvPr>
        </p:nvSpPr>
        <p:spPr/>
        <p:txBody>
          <a:bodyPr/>
          <a:lstStyle/>
          <a:p>
            <a:pPr eaLnBrk="1" hangingPunct="1"/>
            <a:r>
              <a:rPr lang="en-US" smtClean="0"/>
              <a:t>The Characters</a:t>
            </a:r>
          </a:p>
        </p:txBody>
      </p:sp>
      <p:pic>
        <p:nvPicPr>
          <p:cNvPr id="4099" name="Picture 8"/>
          <p:cNvPicPr>
            <a:picLocks noGrp="1" noChangeAspect="1" noChangeArrowheads="1"/>
          </p:cNvPicPr>
          <p:nvPr>
            <p:ph sz="quarter" idx="1"/>
          </p:nvPr>
        </p:nvPicPr>
        <p:blipFill>
          <a:blip r:embed="rId3">
            <a:extLst>
              <a:ext uri="{28A0092B-C50C-407E-A947-70E740481C1C}">
                <a14:useLocalDpi xmlns:a14="http://schemas.microsoft.com/office/drawing/2010/main" val="0"/>
              </a:ext>
            </a:extLst>
          </a:blip>
          <a:srcRect/>
          <a:stretch>
            <a:fillRect/>
          </a:stretch>
        </p:blipFill>
        <p:spPr>
          <a:xfrm>
            <a:off x="304800" y="1371600"/>
            <a:ext cx="2590800" cy="1997075"/>
          </a:xfrm>
        </p:spPr>
      </p:pic>
      <p:pic>
        <p:nvPicPr>
          <p:cNvPr id="4100" name="Picture 9"/>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3352800" y="1447800"/>
            <a:ext cx="2362200" cy="1957388"/>
          </a:xfrm>
        </p:spPr>
      </p:pic>
      <p:pic>
        <p:nvPicPr>
          <p:cNvPr id="4101" name="Picture 10"/>
          <p:cNvPicPr>
            <a:picLocks noGrp="1" noChangeAspect="1" noChangeArrowheads="1"/>
          </p:cNvPicPr>
          <p:nvPr>
            <p:ph sz="quarter" idx="3"/>
          </p:nvPr>
        </p:nvPicPr>
        <p:blipFill>
          <a:blip r:embed="rId5">
            <a:extLst>
              <a:ext uri="{28A0092B-C50C-407E-A947-70E740481C1C}">
                <a14:useLocalDpi xmlns:a14="http://schemas.microsoft.com/office/drawing/2010/main" val="0"/>
              </a:ext>
            </a:extLst>
          </a:blip>
          <a:srcRect/>
          <a:stretch>
            <a:fillRect/>
          </a:stretch>
        </p:blipFill>
        <p:spPr>
          <a:xfrm>
            <a:off x="6019800" y="1524000"/>
            <a:ext cx="2743200" cy="1833563"/>
          </a:xfrm>
        </p:spPr>
      </p:pic>
      <p:pic>
        <p:nvPicPr>
          <p:cNvPr id="4102" name="Picture 11"/>
          <p:cNvPicPr>
            <a:picLocks noGrp="1" noChangeAspect="1" noChangeArrowheads="1"/>
          </p:cNvPicPr>
          <p:nvPr>
            <p:ph sz="quarter" idx="4"/>
          </p:nvPr>
        </p:nvPicPr>
        <p:blipFill>
          <a:blip r:embed="rId6">
            <a:extLst>
              <a:ext uri="{28A0092B-C50C-407E-A947-70E740481C1C}">
                <a14:useLocalDpi xmlns:a14="http://schemas.microsoft.com/office/drawing/2010/main" val="0"/>
              </a:ext>
            </a:extLst>
          </a:blip>
          <a:srcRect/>
          <a:stretch>
            <a:fillRect/>
          </a:stretch>
        </p:blipFill>
        <p:spPr>
          <a:xfrm>
            <a:off x="304800" y="3657600"/>
            <a:ext cx="2581275" cy="1912938"/>
          </a:xfrm>
        </p:spPr>
      </p:pic>
      <p:pic>
        <p:nvPicPr>
          <p:cNvPr id="4103" name="Picture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0" y="3657600"/>
            <a:ext cx="2590800" cy="198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4" name="Picture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96000" y="3657600"/>
            <a:ext cx="2667000" cy="197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1808883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smtClean="0"/>
              <a:t>Setting up the background</a:t>
            </a:r>
          </a:p>
        </p:txBody>
      </p:sp>
      <p:sp>
        <p:nvSpPr>
          <p:cNvPr id="5123" name="Rectangle 15"/>
          <p:cNvSpPr>
            <a:spLocks noGrp="1" noChangeArrowheads="1"/>
          </p:cNvSpPr>
          <p:nvPr>
            <p:ph sz="half" idx="2"/>
          </p:nvPr>
        </p:nvSpPr>
        <p:spPr>
          <a:xfrm>
            <a:off x="457200" y="3581400"/>
            <a:ext cx="8229600" cy="2544763"/>
          </a:xfrm>
        </p:spPr>
        <p:txBody>
          <a:bodyPr>
            <a:normAutofit fontScale="92500" lnSpcReduction="10000"/>
          </a:bodyPr>
          <a:lstStyle/>
          <a:p>
            <a:pPr eaLnBrk="1" hangingPunct="1"/>
            <a:r>
              <a:rPr lang="en-US" sz="2800" dirty="0" smtClean="0"/>
              <a:t>three methods have already been given to you.</a:t>
            </a:r>
          </a:p>
          <a:p>
            <a:pPr eaLnBrk="1" hangingPunct="1"/>
            <a:r>
              <a:rPr lang="en-US" sz="2800" dirty="0" err="1" smtClean="0"/>
              <a:t>World.OpeningScene</a:t>
            </a:r>
            <a:r>
              <a:rPr lang="en-US" sz="2800" dirty="0" smtClean="0"/>
              <a:t> *** add to the student one</a:t>
            </a:r>
          </a:p>
          <a:p>
            <a:pPr eaLnBrk="1" hangingPunct="1"/>
            <a:r>
              <a:rPr lang="en-US" sz="2800" dirty="0" err="1" smtClean="0"/>
              <a:t>Cinderella.Conduct</a:t>
            </a:r>
            <a:endParaRPr lang="en-US" sz="2800" dirty="0" smtClean="0"/>
          </a:p>
          <a:p>
            <a:pPr eaLnBrk="1" hangingPunct="1"/>
            <a:r>
              <a:rPr lang="en-US" sz="2800" dirty="0" err="1" smtClean="0"/>
              <a:t>Cinderella.end</a:t>
            </a:r>
            <a:endParaRPr lang="en-US" sz="2800" dirty="0" smtClean="0"/>
          </a:p>
          <a:p>
            <a:pPr eaLnBrk="1" hangingPunct="1"/>
            <a:r>
              <a:rPr lang="en-US" sz="2800" dirty="0" smtClean="0"/>
              <a:t>These methods will allow Cinderella to conduct the chickens while they dance.</a:t>
            </a:r>
          </a:p>
        </p:txBody>
      </p:sp>
      <p:pic>
        <p:nvPicPr>
          <p:cNvPr id="5124" name="Picture 16"/>
          <p:cNvPicPr>
            <a:picLocks noGrp="1" noChangeAspect="1" noChangeArrowheads="1"/>
          </p:cNvPicPr>
          <p:nvPr>
            <p:ph sz="quarter" idx="4294967295"/>
          </p:nvPr>
        </p:nvPicPr>
        <p:blipFill>
          <a:blip r:embed="rId3">
            <a:extLst>
              <a:ext uri="{28A0092B-C50C-407E-A947-70E740481C1C}">
                <a14:useLocalDpi xmlns:a14="http://schemas.microsoft.com/office/drawing/2010/main" val="0"/>
              </a:ext>
            </a:extLst>
          </a:blip>
          <a:srcRect/>
          <a:stretch>
            <a:fillRect/>
          </a:stretch>
        </p:blipFill>
        <p:spPr>
          <a:xfrm>
            <a:off x="0" y="1905000"/>
            <a:ext cx="7086600" cy="985838"/>
          </a:xfrm>
        </p:spPr>
      </p:pic>
    </p:spTree>
    <p:extLst>
      <p:ext uri="{BB962C8B-B14F-4D97-AF65-F5344CB8AC3E}">
        <p14:creationId xmlns:p14="http://schemas.microsoft.com/office/powerpoint/2010/main" val="220072435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sz="quarter"/>
          </p:nvPr>
        </p:nvSpPr>
        <p:spPr/>
        <p:txBody>
          <a:bodyPr/>
          <a:lstStyle/>
          <a:p>
            <a:pPr eaLnBrk="1" hangingPunct="1"/>
            <a:r>
              <a:rPr lang="en-US" smtClean="0"/>
              <a:t>Setting up the Background</a:t>
            </a:r>
          </a:p>
        </p:txBody>
      </p:sp>
      <p:pic>
        <p:nvPicPr>
          <p:cNvPr id="6147" name="Picture 6"/>
          <p:cNvPicPr>
            <a:picLocks noGrp="1" noChangeAspect="1" noChangeArrowheads="1"/>
          </p:cNvPicPr>
          <p:nvPr>
            <p:ph sz="quarter" idx="1"/>
          </p:nvPr>
        </p:nvPicPr>
        <p:blipFill>
          <a:blip r:embed="rId3">
            <a:extLst>
              <a:ext uri="{28A0092B-C50C-407E-A947-70E740481C1C}">
                <a14:useLocalDpi xmlns:a14="http://schemas.microsoft.com/office/drawing/2010/main" val="0"/>
              </a:ext>
            </a:extLst>
          </a:blip>
          <a:srcRect/>
          <a:stretch>
            <a:fillRect/>
          </a:stretch>
        </p:blipFill>
        <p:spPr>
          <a:xfrm>
            <a:off x="228600" y="1781175"/>
            <a:ext cx="4343400" cy="1984375"/>
          </a:xfrm>
        </p:spPr>
      </p:pic>
      <p:sp>
        <p:nvSpPr>
          <p:cNvPr id="6148" name="Rectangle 5"/>
          <p:cNvSpPr>
            <a:spLocks noGrp="1" noChangeArrowheads="1"/>
          </p:cNvSpPr>
          <p:nvPr>
            <p:ph sz="quarter" idx="2"/>
          </p:nvPr>
        </p:nvSpPr>
        <p:spPr/>
        <p:txBody>
          <a:bodyPr>
            <a:normAutofit fontScale="85000" lnSpcReduction="10000"/>
          </a:bodyPr>
          <a:lstStyle/>
          <a:p>
            <a:pPr eaLnBrk="1" hangingPunct="1"/>
            <a:r>
              <a:rPr lang="en-US" sz="2400" smtClean="0"/>
              <a:t>We are going to execute these methods in a BDE event in our events editor.</a:t>
            </a:r>
          </a:p>
          <a:p>
            <a:pPr eaLnBrk="1" hangingPunct="1"/>
            <a:r>
              <a:rPr lang="en-US" sz="2400" smtClean="0"/>
              <a:t>We will put an invisible bunny in the background that changes colors to execute the rest of the BDE.</a:t>
            </a:r>
          </a:p>
        </p:txBody>
      </p:sp>
      <p:sp>
        <p:nvSpPr>
          <p:cNvPr id="6149" name="Rectangle 7"/>
          <p:cNvSpPr>
            <a:spLocks noGrp="1" noChangeArrowheads="1"/>
          </p:cNvSpPr>
          <p:nvPr>
            <p:ph sz="quarter" idx="3"/>
          </p:nvPr>
        </p:nvSpPr>
        <p:spPr>
          <a:xfrm>
            <a:off x="457200" y="3962400"/>
            <a:ext cx="4038600" cy="2187575"/>
          </a:xfrm>
        </p:spPr>
        <p:txBody>
          <a:bodyPr/>
          <a:lstStyle/>
          <a:p>
            <a:pPr eaLnBrk="1" hangingPunct="1"/>
            <a:r>
              <a:rPr lang="en-US" sz="2400" smtClean="0"/>
              <a:t>This is how your event should look</a:t>
            </a:r>
          </a:p>
        </p:txBody>
      </p:sp>
    </p:spTree>
    <p:extLst>
      <p:ext uri="{BB962C8B-B14F-4D97-AF65-F5344CB8AC3E}">
        <p14:creationId xmlns:p14="http://schemas.microsoft.com/office/powerpoint/2010/main" val="126604069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4"/>
          <p:cNvSpPr>
            <a:spLocks noGrp="1" noChangeArrowheads="1"/>
          </p:cNvSpPr>
          <p:nvPr>
            <p:ph sz="half" idx="1"/>
          </p:nvPr>
        </p:nvSpPr>
        <p:spPr>
          <a:xfrm>
            <a:off x="228600" y="1600200"/>
            <a:ext cx="4038600" cy="4525963"/>
          </a:xfrm>
        </p:spPr>
        <p:txBody>
          <a:bodyPr/>
          <a:lstStyle/>
          <a:p>
            <a:pPr eaLnBrk="1" hangingPunct="1"/>
            <a:r>
              <a:rPr lang="en-US" smtClean="0"/>
              <a:t>This is how your world.my first method should look right now. </a:t>
            </a:r>
          </a:p>
        </p:txBody>
      </p:sp>
      <p:pic>
        <p:nvPicPr>
          <p:cNvPr id="7172" name="Picture 6"/>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572000" y="1828800"/>
            <a:ext cx="4343400" cy="2190750"/>
          </a:xfrm>
        </p:spPr>
      </p:pic>
      <p:sp>
        <p:nvSpPr>
          <p:cNvPr id="7170" name="Rectangle 2"/>
          <p:cNvSpPr>
            <a:spLocks noGrp="1" noChangeArrowheads="1"/>
          </p:cNvSpPr>
          <p:nvPr>
            <p:ph type="title"/>
          </p:nvPr>
        </p:nvSpPr>
        <p:spPr/>
        <p:txBody>
          <a:bodyPr/>
          <a:lstStyle/>
          <a:p>
            <a:pPr eaLnBrk="1" hangingPunct="1"/>
            <a:r>
              <a:rPr lang="en-US" smtClean="0"/>
              <a:t>Setting up the Background</a:t>
            </a:r>
          </a:p>
        </p:txBody>
      </p:sp>
    </p:spTree>
    <p:extLst>
      <p:ext uri="{BB962C8B-B14F-4D97-AF65-F5344CB8AC3E}">
        <p14:creationId xmlns:p14="http://schemas.microsoft.com/office/powerpoint/2010/main" val="299717730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idx="1"/>
          </p:nvPr>
        </p:nvSpPr>
        <p:spPr/>
        <p:txBody>
          <a:bodyPr/>
          <a:lstStyle/>
          <a:p>
            <a:pPr eaLnBrk="1" hangingPunct="1"/>
            <a:r>
              <a:rPr lang="en-US" smtClean="0"/>
              <a:t>Now we are going to animate our chickens</a:t>
            </a:r>
          </a:p>
          <a:p>
            <a:pPr eaLnBrk="1" hangingPunct="1"/>
            <a:r>
              <a:rPr lang="en-US" smtClean="0"/>
              <a:t>To do this we will need to use two things</a:t>
            </a:r>
          </a:p>
          <a:p>
            <a:pPr eaLnBrk="1" hangingPunct="1"/>
            <a:r>
              <a:rPr lang="en-US" smtClean="0"/>
              <a:t>A list </a:t>
            </a:r>
          </a:p>
          <a:p>
            <a:pPr eaLnBrk="1" hangingPunct="1"/>
            <a:r>
              <a:rPr lang="en-US" smtClean="0"/>
              <a:t>And an Array</a:t>
            </a:r>
          </a:p>
        </p:txBody>
      </p:sp>
      <p:sp>
        <p:nvSpPr>
          <p:cNvPr id="8194" name="Rectangle 2"/>
          <p:cNvSpPr>
            <a:spLocks noGrp="1" noChangeArrowheads="1"/>
          </p:cNvSpPr>
          <p:nvPr>
            <p:ph type="title"/>
          </p:nvPr>
        </p:nvSpPr>
        <p:spPr/>
        <p:txBody>
          <a:bodyPr/>
          <a:lstStyle/>
          <a:p>
            <a:pPr eaLnBrk="1" hangingPunct="1"/>
            <a:r>
              <a:rPr lang="en-US" smtClean="0"/>
              <a:t>Animating the chickens</a:t>
            </a:r>
          </a:p>
        </p:txBody>
      </p:sp>
    </p:spTree>
    <p:extLst>
      <p:ext uri="{BB962C8B-B14F-4D97-AF65-F5344CB8AC3E}">
        <p14:creationId xmlns:p14="http://schemas.microsoft.com/office/powerpoint/2010/main" val="255745594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4"/>
          <p:cNvSpPr>
            <a:spLocks noGrp="1" noChangeArrowheads="1"/>
          </p:cNvSpPr>
          <p:nvPr>
            <p:ph sz="half" idx="1"/>
          </p:nvPr>
        </p:nvSpPr>
        <p:spPr>
          <a:xfrm>
            <a:off x="381000" y="1143000"/>
            <a:ext cx="3886200" cy="5486400"/>
          </a:xfrm>
        </p:spPr>
        <p:txBody>
          <a:bodyPr/>
          <a:lstStyle/>
          <a:p>
            <a:pPr eaLnBrk="1" hangingPunct="1"/>
            <a:r>
              <a:rPr lang="en-US" sz="2000" smtClean="0"/>
              <a:t>What is a List?</a:t>
            </a:r>
          </a:p>
          <a:p>
            <a:pPr lvl="1" eaLnBrk="1" hangingPunct="1"/>
            <a:r>
              <a:rPr lang="en-US" sz="2000" smtClean="0"/>
              <a:t>A list is simply a way to organize information.</a:t>
            </a:r>
          </a:p>
          <a:p>
            <a:pPr eaLnBrk="1" hangingPunct="1"/>
            <a:r>
              <a:rPr lang="en-US" sz="2000" smtClean="0"/>
              <a:t>What is an Array?</a:t>
            </a:r>
          </a:p>
          <a:p>
            <a:pPr lvl="1" eaLnBrk="1" hangingPunct="1"/>
            <a:r>
              <a:rPr lang="en-US" sz="2000" smtClean="0"/>
              <a:t>An Array is a structure for collecting and organizing objects or information of the same type into a group. </a:t>
            </a:r>
          </a:p>
          <a:p>
            <a:pPr lvl="1" eaLnBrk="1" hangingPunct="1"/>
            <a:r>
              <a:rPr lang="en-US" sz="2000" smtClean="0"/>
              <a:t>In Alice Arrays and classes are visual</a:t>
            </a:r>
            <a:r>
              <a:rPr lang="en-US" smtClean="0"/>
              <a:t> objects to be dropped into your world</a:t>
            </a:r>
          </a:p>
        </p:txBody>
      </p:sp>
      <p:pic>
        <p:nvPicPr>
          <p:cNvPr id="9220" name="Picture 6"/>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876800" y="4040188"/>
            <a:ext cx="2590800" cy="2513012"/>
          </a:xfrm>
        </p:spPr>
      </p:pic>
      <p:sp>
        <p:nvSpPr>
          <p:cNvPr id="9218" name="Rectangle 2"/>
          <p:cNvSpPr>
            <a:spLocks noGrp="1" noChangeArrowheads="1"/>
          </p:cNvSpPr>
          <p:nvPr>
            <p:ph type="title"/>
          </p:nvPr>
        </p:nvSpPr>
        <p:spPr>
          <a:xfrm>
            <a:off x="533400" y="228600"/>
            <a:ext cx="8229600" cy="1143000"/>
          </a:xfrm>
        </p:spPr>
        <p:txBody>
          <a:bodyPr/>
          <a:lstStyle/>
          <a:p>
            <a:pPr eaLnBrk="1" hangingPunct="1"/>
            <a:r>
              <a:rPr lang="en-US" smtClean="0"/>
              <a:t>Getting Started </a:t>
            </a:r>
          </a:p>
        </p:txBody>
      </p:sp>
      <p:pic>
        <p:nvPicPr>
          <p:cNvPr id="9221"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6800" y="1295400"/>
            <a:ext cx="2576513"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2222472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idx="1"/>
          </p:nvPr>
        </p:nvSpPr>
        <p:spPr/>
        <p:txBody>
          <a:bodyPr/>
          <a:lstStyle/>
          <a:p>
            <a:pPr eaLnBrk="1" hangingPunct="1">
              <a:lnSpc>
                <a:spcPct val="90000"/>
              </a:lnSpc>
            </a:pPr>
            <a:r>
              <a:rPr lang="en-US" smtClean="0"/>
              <a:t>Glitch in Alice </a:t>
            </a:r>
          </a:p>
          <a:p>
            <a:pPr lvl="1" eaLnBrk="1" hangingPunct="1">
              <a:lnSpc>
                <a:spcPct val="90000"/>
              </a:lnSpc>
            </a:pPr>
            <a:r>
              <a:rPr lang="en-US" smtClean="0"/>
              <a:t>Alice cannot compute your world if you put the same objects in a “List Visualization” as an “Array Visualization”. </a:t>
            </a:r>
          </a:p>
          <a:p>
            <a:pPr lvl="1" eaLnBrk="1" hangingPunct="1">
              <a:lnSpc>
                <a:spcPct val="90000"/>
              </a:lnSpc>
            </a:pPr>
            <a:r>
              <a:rPr lang="en-US" smtClean="0"/>
              <a:t>I will demonstrate how to use the “List Visualization” later, but for now we are just going to make a regular list.</a:t>
            </a:r>
          </a:p>
          <a:p>
            <a:pPr lvl="1" eaLnBrk="1" hangingPunct="1">
              <a:lnSpc>
                <a:spcPct val="90000"/>
              </a:lnSpc>
            </a:pPr>
            <a:r>
              <a:rPr lang="en-US" smtClean="0"/>
              <a:t>However, you can use a list without the actual Visualization, if you also want to use an “Array” in your world</a:t>
            </a:r>
          </a:p>
        </p:txBody>
      </p:sp>
      <p:sp>
        <p:nvSpPr>
          <p:cNvPr id="10242" name="Rectangle 2"/>
          <p:cNvSpPr>
            <a:spLocks noGrp="1" noChangeArrowheads="1"/>
          </p:cNvSpPr>
          <p:nvPr>
            <p:ph type="title"/>
          </p:nvPr>
        </p:nvSpPr>
        <p:spPr/>
        <p:txBody>
          <a:bodyPr/>
          <a:lstStyle/>
          <a:p>
            <a:pPr eaLnBrk="1" hangingPunct="1"/>
            <a:r>
              <a:rPr lang="en-US" smtClean="0"/>
              <a:t>Side Note</a:t>
            </a:r>
          </a:p>
        </p:txBody>
      </p:sp>
    </p:spTree>
    <p:extLst>
      <p:ext uri="{BB962C8B-B14F-4D97-AF65-F5344CB8AC3E}">
        <p14:creationId xmlns:p14="http://schemas.microsoft.com/office/powerpoint/2010/main" val="146299853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smtClean="0"/>
              <a:t>Making a List</a:t>
            </a:r>
          </a:p>
        </p:txBody>
      </p:sp>
      <p:sp>
        <p:nvSpPr>
          <p:cNvPr id="11267" name="Rectangle 4"/>
          <p:cNvSpPr>
            <a:spLocks noGrp="1" noChangeArrowheads="1"/>
          </p:cNvSpPr>
          <p:nvPr>
            <p:ph sz="half" idx="1"/>
          </p:nvPr>
        </p:nvSpPr>
        <p:spPr/>
        <p:txBody>
          <a:bodyPr/>
          <a:lstStyle/>
          <a:p>
            <a:pPr eaLnBrk="1" hangingPunct="1"/>
            <a:r>
              <a:rPr lang="en-US" sz="2800" smtClean="0"/>
              <a:t>Create a world level method named “ChickMove.”</a:t>
            </a:r>
          </a:p>
          <a:p>
            <a:pPr eaLnBrk="1" hangingPunct="1"/>
            <a:r>
              <a:rPr lang="en-US" sz="2800" smtClean="0"/>
              <a:t>Drag the “For all Together” Button onto the method editor.</a:t>
            </a:r>
          </a:p>
          <a:p>
            <a:pPr eaLnBrk="1" hangingPunct="1"/>
            <a:r>
              <a:rPr lang="en-US" sz="2800" smtClean="0"/>
              <a:t>Select “Create new list.”</a:t>
            </a:r>
          </a:p>
        </p:txBody>
      </p:sp>
      <p:pic>
        <p:nvPicPr>
          <p:cNvPr id="11268" name="Picture 9"/>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4419600" y="1524000"/>
            <a:ext cx="4495800" cy="2016125"/>
          </a:xfrm>
        </p:spPr>
      </p:pic>
    </p:spTree>
    <p:extLst>
      <p:ext uri="{BB962C8B-B14F-4D97-AF65-F5344CB8AC3E}">
        <p14:creationId xmlns:p14="http://schemas.microsoft.com/office/powerpoint/2010/main" val="379145531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4"/>
          <p:cNvSpPr>
            <a:spLocks noGrp="1" noChangeArrowheads="1"/>
          </p:cNvSpPr>
          <p:nvPr>
            <p:ph sz="half" idx="1"/>
          </p:nvPr>
        </p:nvSpPr>
        <p:spPr/>
        <p:txBody>
          <a:bodyPr>
            <a:normAutofit fontScale="92500"/>
          </a:bodyPr>
          <a:lstStyle/>
          <a:p>
            <a:pPr eaLnBrk="1" hangingPunct="1"/>
            <a:r>
              <a:rPr lang="en-US" smtClean="0"/>
              <a:t>A box will pop up for you to enter in the items on your list.</a:t>
            </a:r>
          </a:p>
          <a:p>
            <a:pPr eaLnBrk="1" hangingPunct="1"/>
            <a:r>
              <a:rPr lang="en-US" smtClean="0"/>
              <a:t>Name it “ChickensDance Together.”</a:t>
            </a:r>
          </a:p>
          <a:p>
            <a:pPr eaLnBrk="1" hangingPunct="1"/>
            <a:r>
              <a:rPr lang="en-US" smtClean="0"/>
              <a:t>Enter in each chicken, keeping in mind that the entries start at slot ‘0’. </a:t>
            </a:r>
          </a:p>
        </p:txBody>
      </p:sp>
      <p:pic>
        <p:nvPicPr>
          <p:cNvPr id="12292" name="Picture 6"/>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tretch>
            <a:fillRect/>
          </a:stretch>
        </p:blipFill>
        <p:spPr>
          <a:xfrm>
            <a:off x="4933708" y="1539357"/>
            <a:ext cx="3467584" cy="4409524"/>
          </a:xfrm>
        </p:spPr>
      </p:pic>
      <p:sp>
        <p:nvSpPr>
          <p:cNvPr id="12290" name="Rectangle 2"/>
          <p:cNvSpPr>
            <a:spLocks noGrp="1" noChangeArrowheads="1"/>
          </p:cNvSpPr>
          <p:nvPr>
            <p:ph type="title"/>
          </p:nvPr>
        </p:nvSpPr>
        <p:spPr/>
        <p:txBody>
          <a:bodyPr/>
          <a:lstStyle/>
          <a:p>
            <a:pPr eaLnBrk="1" hangingPunct="1"/>
            <a:r>
              <a:rPr lang="en-US" smtClean="0"/>
              <a:t>Making a List </a:t>
            </a:r>
          </a:p>
        </p:txBody>
      </p:sp>
    </p:spTree>
    <p:extLst>
      <p:ext uri="{BB962C8B-B14F-4D97-AF65-F5344CB8AC3E}">
        <p14:creationId xmlns:p14="http://schemas.microsoft.com/office/powerpoint/2010/main" val="211399987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4"/>
          <p:cNvSpPr>
            <a:spLocks noGrp="1" noChangeArrowheads="1"/>
          </p:cNvSpPr>
          <p:nvPr>
            <p:ph sz="half" idx="1"/>
          </p:nvPr>
        </p:nvSpPr>
        <p:spPr/>
        <p:txBody>
          <a:bodyPr/>
          <a:lstStyle/>
          <a:p>
            <a:pPr eaLnBrk="1" hangingPunct="1">
              <a:buFontTx/>
              <a:buNone/>
            </a:pPr>
            <a:r>
              <a:rPr lang="en-US" smtClean="0"/>
              <a:t>This is how your box should look.</a:t>
            </a:r>
          </a:p>
        </p:txBody>
      </p:sp>
      <p:pic>
        <p:nvPicPr>
          <p:cNvPr id="13316" name="Picture 6"/>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2895600" y="2133600"/>
            <a:ext cx="5410200" cy="4492625"/>
          </a:xfrm>
        </p:spPr>
      </p:pic>
      <p:sp>
        <p:nvSpPr>
          <p:cNvPr id="13314" name="Rectangle 2"/>
          <p:cNvSpPr>
            <a:spLocks noGrp="1" noChangeArrowheads="1"/>
          </p:cNvSpPr>
          <p:nvPr>
            <p:ph type="title"/>
          </p:nvPr>
        </p:nvSpPr>
        <p:spPr/>
        <p:txBody>
          <a:bodyPr/>
          <a:lstStyle/>
          <a:p>
            <a:pPr eaLnBrk="1" hangingPunct="1"/>
            <a:r>
              <a:rPr lang="en-US" smtClean="0"/>
              <a:t>Lists</a:t>
            </a:r>
          </a:p>
        </p:txBody>
      </p:sp>
    </p:spTree>
    <p:extLst>
      <p:ext uri="{BB962C8B-B14F-4D97-AF65-F5344CB8AC3E}">
        <p14:creationId xmlns:p14="http://schemas.microsoft.com/office/powerpoint/2010/main" val="28969146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smtClean="0"/>
              <a:t>Lists</a:t>
            </a:r>
          </a:p>
        </p:txBody>
      </p:sp>
      <p:sp>
        <p:nvSpPr>
          <p:cNvPr id="14339" name="Rectangle 7"/>
          <p:cNvSpPr>
            <a:spLocks noGrp="1" noChangeArrowheads="1"/>
          </p:cNvSpPr>
          <p:nvPr>
            <p:ph type="body" sz="half" idx="1"/>
          </p:nvPr>
        </p:nvSpPr>
        <p:spPr/>
        <p:txBody>
          <a:bodyPr/>
          <a:lstStyle/>
          <a:p>
            <a:pPr eaLnBrk="1" hangingPunct="1">
              <a:buFontTx/>
              <a:buNone/>
            </a:pPr>
            <a:r>
              <a:rPr lang="en-US" sz="2800" smtClean="0"/>
              <a:t> </a:t>
            </a:r>
          </a:p>
        </p:txBody>
      </p:sp>
      <p:sp>
        <p:nvSpPr>
          <p:cNvPr id="14340" name="Rectangle 4"/>
          <p:cNvSpPr>
            <a:spLocks noGrp="1" noChangeArrowheads="1"/>
          </p:cNvSpPr>
          <p:nvPr>
            <p:ph sz="half" idx="2"/>
          </p:nvPr>
        </p:nvSpPr>
        <p:spPr/>
        <p:txBody>
          <a:bodyPr>
            <a:normAutofit fontScale="92500"/>
          </a:bodyPr>
          <a:lstStyle/>
          <a:p>
            <a:pPr eaLnBrk="1" hangingPunct="1"/>
            <a:r>
              <a:rPr lang="en-US" sz="2400" smtClean="0"/>
              <a:t>We want the chickens to roll left and right together.</a:t>
            </a:r>
          </a:p>
          <a:p>
            <a:pPr eaLnBrk="1" hangingPunct="1"/>
            <a:r>
              <a:rPr lang="en-US" sz="2400" smtClean="0"/>
              <a:t>Above is  the code to have one chicken roll left and then right</a:t>
            </a:r>
          </a:p>
          <a:p>
            <a:pPr eaLnBrk="1" hangingPunct="1"/>
            <a:r>
              <a:rPr lang="en-US" sz="2400" smtClean="0"/>
              <a:t>I selected Chicken 2 but any chicken will work</a:t>
            </a:r>
          </a:p>
          <a:p>
            <a:pPr eaLnBrk="1" hangingPunct="1"/>
            <a:r>
              <a:rPr lang="en-US" sz="2400" smtClean="0"/>
              <a:t>Put all of this code in your World.Chickmove method</a:t>
            </a:r>
          </a:p>
        </p:txBody>
      </p:sp>
      <p:pic>
        <p:nvPicPr>
          <p:cNvPr id="14341" name="Picture 9"/>
          <p:cNvPicPr>
            <a:picLocks noGrp="1" noChangeAspect="1" noChangeArrowheads="1"/>
          </p:cNvPicPr>
          <p:nvPr>
            <p:ph sz="quarter" idx="4294967295"/>
          </p:nvPr>
        </p:nvPicPr>
        <p:blipFill>
          <a:blip r:embed="rId3">
            <a:extLst>
              <a:ext uri="{28A0092B-C50C-407E-A947-70E740481C1C}">
                <a14:useLocalDpi xmlns:a14="http://schemas.microsoft.com/office/drawing/2010/main" val="0"/>
              </a:ext>
            </a:extLst>
          </a:blip>
          <a:srcRect/>
          <a:stretch>
            <a:fillRect/>
          </a:stretch>
        </p:blipFill>
        <p:spPr>
          <a:xfrm>
            <a:off x="0" y="1371600"/>
            <a:ext cx="5943600" cy="2608263"/>
          </a:xfrm>
        </p:spPr>
      </p:pic>
    </p:spTree>
    <p:extLst>
      <p:ext uri="{BB962C8B-B14F-4D97-AF65-F5344CB8AC3E}">
        <p14:creationId xmlns:p14="http://schemas.microsoft.com/office/powerpoint/2010/main" val="37574723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smtClean="0"/>
              <a:t>Lists</a:t>
            </a:r>
          </a:p>
        </p:txBody>
      </p:sp>
      <p:sp>
        <p:nvSpPr>
          <p:cNvPr id="15363" name="Rectangle 4"/>
          <p:cNvSpPr>
            <a:spLocks noGrp="1" noChangeArrowheads="1"/>
          </p:cNvSpPr>
          <p:nvPr>
            <p:ph type="body" sz="half" idx="1"/>
          </p:nvPr>
        </p:nvSpPr>
        <p:spPr/>
        <p:txBody>
          <a:bodyPr>
            <a:normAutofit fontScale="92500"/>
          </a:bodyPr>
          <a:lstStyle/>
          <a:p>
            <a:pPr eaLnBrk="1" hangingPunct="1"/>
            <a:r>
              <a:rPr lang="en-US" sz="2800" smtClean="0"/>
              <a:t>Now drag the tab labeled “item_from_ChickensDanceTogether” over the box that was previously labeled “Chicken 2.”</a:t>
            </a:r>
          </a:p>
          <a:p>
            <a:pPr eaLnBrk="1" hangingPunct="1"/>
            <a:r>
              <a:rPr lang="en-US" sz="2800" smtClean="0"/>
              <a:t>Repeat this for each command to make the chicken roll</a:t>
            </a:r>
          </a:p>
        </p:txBody>
      </p:sp>
      <p:pic>
        <p:nvPicPr>
          <p:cNvPr id="15364"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4114800"/>
            <a:ext cx="80772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3439248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ChangeArrowheads="1"/>
          </p:cNvSpPr>
          <p:nvPr>
            <p:ph idx="1"/>
          </p:nvPr>
        </p:nvSpPr>
        <p:spPr/>
        <p:txBody>
          <a:bodyPr/>
          <a:lstStyle/>
          <a:p>
            <a:pPr eaLnBrk="1" hangingPunct="1"/>
            <a:r>
              <a:rPr lang="en-US" smtClean="0"/>
              <a:t>Now we have programmed the List to have all the chickens roll left and then right at the same time.</a:t>
            </a:r>
          </a:p>
          <a:p>
            <a:pPr eaLnBrk="1" hangingPunct="1"/>
            <a:r>
              <a:rPr lang="en-US" smtClean="0"/>
              <a:t>But what if we want them to do something, one at a time?</a:t>
            </a:r>
          </a:p>
          <a:p>
            <a:pPr eaLnBrk="1" hangingPunct="1"/>
            <a:r>
              <a:rPr lang="en-US" smtClean="0"/>
              <a:t>This is where ‘For all in order’ comes in.</a:t>
            </a:r>
          </a:p>
          <a:p>
            <a:pPr eaLnBrk="1" hangingPunct="1"/>
            <a:r>
              <a:rPr lang="en-US" smtClean="0"/>
              <a:t>We will now program the chickens to kick up their left leg, one at a time.</a:t>
            </a:r>
          </a:p>
        </p:txBody>
      </p:sp>
      <p:sp>
        <p:nvSpPr>
          <p:cNvPr id="16386" name="Rectangle 2"/>
          <p:cNvSpPr>
            <a:spLocks noGrp="1" noChangeArrowheads="1"/>
          </p:cNvSpPr>
          <p:nvPr>
            <p:ph type="title"/>
          </p:nvPr>
        </p:nvSpPr>
        <p:spPr/>
        <p:txBody>
          <a:bodyPr/>
          <a:lstStyle/>
          <a:p>
            <a:pPr eaLnBrk="1" hangingPunct="1"/>
            <a:r>
              <a:rPr lang="en-US" smtClean="0"/>
              <a:t>Lists</a:t>
            </a:r>
          </a:p>
        </p:txBody>
      </p:sp>
    </p:spTree>
    <p:extLst>
      <p:ext uri="{BB962C8B-B14F-4D97-AF65-F5344CB8AC3E}">
        <p14:creationId xmlns:p14="http://schemas.microsoft.com/office/powerpoint/2010/main" val="241486660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p:txBody>
          <a:bodyPr/>
          <a:lstStyle/>
          <a:p>
            <a:pPr eaLnBrk="1" hangingPunct="1"/>
            <a:r>
              <a:rPr lang="en-US" smtClean="0"/>
              <a:t>Lists</a:t>
            </a:r>
          </a:p>
        </p:txBody>
      </p:sp>
      <p:sp>
        <p:nvSpPr>
          <p:cNvPr id="17411" name="Rectangle 5"/>
          <p:cNvSpPr>
            <a:spLocks noGrp="1" noChangeArrowheads="1"/>
          </p:cNvSpPr>
          <p:nvPr>
            <p:ph type="body" sz="half" idx="1"/>
          </p:nvPr>
        </p:nvSpPr>
        <p:spPr>
          <a:xfrm>
            <a:off x="457200" y="1600200"/>
            <a:ext cx="8153400" cy="1981200"/>
          </a:xfrm>
        </p:spPr>
        <p:txBody>
          <a:bodyPr>
            <a:normAutofit/>
          </a:bodyPr>
          <a:lstStyle/>
          <a:p>
            <a:pPr eaLnBrk="1" hangingPunct="1">
              <a:lnSpc>
                <a:spcPct val="90000"/>
              </a:lnSpc>
            </a:pPr>
            <a:r>
              <a:rPr lang="en-US" sz="2000" smtClean="0"/>
              <a:t>Open a New method named “KickUpLeg” and create a new parameter called “WhichChicken.” </a:t>
            </a:r>
          </a:p>
          <a:p>
            <a:pPr eaLnBrk="1" hangingPunct="1">
              <a:lnSpc>
                <a:spcPct val="90000"/>
              </a:lnSpc>
            </a:pPr>
            <a:r>
              <a:rPr lang="en-US" sz="2000" smtClean="0"/>
              <a:t>Click on the “For all in order” tab at the bottom of your screen and drag it into your method</a:t>
            </a:r>
          </a:p>
          <a:p>
            <a:pPr eaLnBrk="1" hangingPunct="1">
              <a:lnSpc>
                <a:spcPct val="90000"/>
              </a:lnSpc>
            </a:pPr>
            <a:endParaRPr lang="en-US" sz="2000" smtClean="0"/>
          </a:p>
          <a:p>
            <a:pPr eaLnBrk="1" hangingPunct="1">
              <a:lnSpc>
                <a:spcPct val="90000"/>
              </a:lnSpc>
            </a:pPr>
            <a:r>
              <a:rPr lang="en-US" sz="2000" smtClean="0"/>
              <a:t>Side Note: Always make sure it is an “object” parameter</a:t>
            </a:r>
          </a:p>
          <a:p>
            <a:pPr eaLnBrk="1" hangingPunct="1">
              <a:lnSpc>
                <a:spcPct val="90000"/>
              </a:lnSpc>
              <a:buFontTx/>
              <a:buNone/>
            </a:pPr>
            <a:endParaRPr lang="en-US" sz="2000" smtClean="0"/>
          </a:p>
          <a:p>
            <a:pPr eaLnBrk="1" hangingPunct="1">
              <a:lnSpc>
                <a:spcPct val="90000"/>
              </a:lnSpc>
              <a:buFontTx/>
              <a:buNone/>
            </a:pPr>
            <a:endParaRPr lang="en-US" sz="2000" smtClean="0"/>
          </a:p>
          <a:p>
            <a:pPr eaLnBrk="1" hangingPunct="1">
              <a:lnSpc>
                <a:spcPct val="90000"/>
              </a:lnSpc>
            </a:pPr>
            <a:endParaRPr lang="en-US" sz="2000" smtClean="0"/>
          </a:p>
          <a:p>
            <a:pPr eaLnBrk="1" hangingPunct="1">
              <a:lnSpc>
                <a:spcPct val="90000"/>
              </a:lnSpc>
            </a:pPr>
            <a:endParaRPr lang="en-US" sz="2000" smtClean="0"/>
          </a:p>
        </p:txBody>
      </p:sp>
      <p:pic>
        <p:nvPicPr>
          <p:cNvPr id="17412" name="Picture 7"/>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381000" y="3886200"/>
            <a:ext cx="8229600" cy="804863"/>
          </a:xfrm>
        </p:spPr>
      </p:pic>
      <p:pic>
        <p:nvPicPr>
          <p:cNvPr id="17413"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5045075"/>
            <a:ext cx="3962400" cy="10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1675987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6" name="Picture 7"/>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tretch>
            <a:fillRect/>
          </a:stretch>
        </p:blipFill>
        <p:spPr>
          <a:xfrm>
            <a:off x="457200" y="2955217"/>
            <a:ext cx="4038600" cy="1577804"/>
          </a:xfrm>
        </p:spPr>
      </p:pic>
      <p:sp>
        <p:nvSpPr>
          <p:cNvPr id="18435" name="Rectangle 6"/>
          <p:cNvSpPr>
            <a:spLocks noGrp="1" noChangeArrowheads="1"/>
          </p:cNvSpPr>
          <p:nvPr>
            <p:ph sz="half" idx="2"/>
          </p:nvPr>
        </p:nvSpPr>
        <p:spPr>
          <a:xfrm>
            <a:off x="457200" y="1600200"/>
            <a:ext cx="8229600" cy="1828800"/>
          </a:xfrm>
        </p:spPr>
        <p:txBody>
          <a:bodyPr/>
          <a:lstStyle/>
          <a:p>
            <a:pPr eaLnBrk="1" hangingPunct="1"/>
            <a:r>
              <a:rPr lang="en-US" smtClean="0"/>
              <a:t>First write the method for the chicken’s leg to kick, using the entire chicken as the place holder.</a:t>
            </a:r>
          </a:p>
        </p:txBody>
      </p:sp>
      <p:sp>
        <p:nvSpPr>
          <p:cNvPr id="18434" name="Rectangle 2"/>
          <p:cNvSpPr>
            <a:spLocks noGrp="1" noChangeArrowheads="1"/>
          </p:cNvSpPr>
          <p:nvPr>
            <p:ph type="title"/>
          </p:nvPr>
        </p:nvSpPr>
        <p:spPr/>
        <p:txBody>
          <a:bodyPr/>
          <a:lstStyle/>
          <a:p>
            <a:pPr eaLnBrk="1" hangingPunct="1"/>
            <a:r>
              <a:rPr lang="en-US" smtClean="0"/>
              <a:t>Lists</a:t>
            </a:r>
          </a:p>
        </p:txBody>
      </p:sp>
    </p:spTree>
    <p:extLst>
      <p:ext uri="{BB962C8B-B14F-4D97-AF65-F5344CB8AC3E}">
        <p14:creationId xmlns:p14="http://schemas.microsoft.com/office/powerpoint/2010/main" val="14005425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60" name="Picture 6"/>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tretch>
            <a:fillRect/>
          </a:stretch>
        </p:blipFill>
        <p:spPr>
          <a:xfrm>
            <a:off x="1395547" y="2062721"/>
            <a:ext cx="2161905" cy="3362795"/>
          </a:xfrm>
        </p:spPr>
      </p:pic>
      <p:sp>
        <p:nvSpPr>
          <p:cNvPr id="19459" name="Rectangle 5"/>
          <p:cNvSpPr>
            <a:spLocks noGrp="1" noChangeArrowheads="1"/>
          </p:cNvSpPr>
          <p:nvPr>
            <p:ph sz="half" idx="2"/>
          </p:nvPr>
        </p:nvSpPr>
        <p:spPr/>
        <p:txBody>
          <a:bodyPr>
            <a:normAutofit/>
          </a:bodyPr>
          <a:lstStyle/>
          <a:p>
            <a:pPr eaLnBrk="1" hangingPunct="1"/>
            <a:r>
              <a:rPr lang="en-US" smtClean="0"/>
              <a:t>Click on world level functions and select a function labeled “Parts named key.” </a:t>
            </a:r>
          </a:p>
          <a:p>
            <a:pPr eaLnBrk="1" hangingPunct="1"/>
            <a:r>
              <a:rPr lang="en-US" smtClean="0"/>
              <a:t>Replace each “chicken” with this function in your method.</a:t>
            </a:r>
          </a:p>
        </p:txBody>
      </p:sp>
      <p:sp>
        <p:nvSpPr>
          <p:cNvPr id="19458" name="Rectangle 2"/>
          <p:cNvSpPr>
            <a:spLocks noGrp="1" noChangeArrowheads="1"/>
          </p:cNvSpPr>
          <p:nvPr>
            <p:ph type="title"/>
          </p:nvPr>
        </p:nvSpPr>
        <p:spPr/>
        <p:txBody>
          <a:bodyPr/>
          <a:lstStyle/>
          <a:p>
            <a:pPr eaLnBrk="1" hangingPunct="1"/>
            <a:r>
              <a:rPr lang="en-US" smtClean="0"/>
              <a:t>Part named Key</a:t>
            </a:r>
          </a:p>
        </p:txBody>
      </p:sp>
    </p:spTree>
    <p:extLst>
      <p:ext uri="{BB962C8B-B14F-4D97-AF65-F5344CB8AC3E}">
        <p14:creationId xmlns:p14="http://schemas.microsoft.com/office/powerpoint/2010/main" val="249268771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sz="quarter"/>
          </p:nvPr>
        </p:nvSpPr>
        <p:spPr/>
        <p:txBody>
          <a:bodyPr/>
          <a:lstStyle/>
          <a:p>
            <a:pPr eaLnBrk="1" hangingPunct="1"/>
            <a:r>
              <a:rPr lang="en-US" smtClean="0"/>
              <a:t>Part Named Key</a:t>
            </a:r>
          </a:p>
        </p:txBody>
      </p:sp>
      <p:sp>
        <p:nvSpPr>
          <p:cNvPr id="20483" name="Rectangle 6"/>
          <p:cNvSpPr>
            <a:spLocks noGrp="1" noChangeArrowheads="1"/>
          </p:cNvSpPr>
          <p:nvPr>
            <p:ph sz="quarter" idx="1"/>
          </p:nvPr>
        </p:nvSpPr>
        <p:spPr>
          <a:xfrm>
            <a:off x="457200" y="1219200"/>
            <a:ext cx="8382000" cy="3200400"/>
          </a:xfrm>
        </p:spPr>
        <p:txBody>
          <a:bodyPr/>
          <a:lstStyle/>
          <a:p>
            <a:pPr eaLnBrk="1" hangingPunct="1"/>
            <a:r>
              <a:rPr lang="en-US" sz="2400" smtClean="0"/>
              <a:t>Then, drag the parameter ‘whichChicken’on top of ‘Chicken’.</a:t>
            </a:r>
          </a:p>
          <a:p>
            <a:pPr eaLnBrk="1" hangingPunct="1"/>
            <a:r>
              <a:rPr lang="en-US" sz="2400" smtClean="0"/>
              <a:t>For each white box select the arrow down key and hit “other”</a:t>
            </a:r>
          </a:p>
          <a:p>
            <a:pPr eaLnBrk="1" hangingPunct="1"/>
            <a:r>
              <a:rPr lang="en-US" sz="2400" smtClean="0"/>
              <a:t>A box will appear for you to type.</a:t>
            </a:r>
          </a:p>
          <a:p>
            <a:pPr eaLnBrk="1" hangingPunct="1"/>
            <a:r>
              <a:rPr lang="en-US" sz="2400" smtClean="0"/>
              <a:t>You must get the syntax exactly correct.</a:t>
            </a:r>
          </a:p>
          <a:p>
            <a:pPr eaLnBrk="1" hangingPunct="1"/>
            <a:r>
              <a:rPr lang="en-US" sz="2400" smtClean="0"/>
              <a:t>Type in “LeftLeg”</a:t>
            </a:r>
          </a:p>
        </p:txBody>
      </p:sp>
      <p:pic>
        <p:nvPicPr>
          <p:cNvPr id="20484"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4343400"/>
            <a:ext cx="8763000" cy="233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3249258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sz="quarter"/>
          </p:nvPr>
        </p:nvSpPr>
        <p:spPr/>
        <p:txBody>
          <a:bodyPr/>
          <a:lstStyle/>
          <a:p>
            <a:pPr eaLnBrk="1" hangingPunct="1"/>
            <a:r>
              <a:rPr lang="en-US" smtClean="0"/>
              <a:t>Part named key conclusion</a:t>
            </a:r>
          </a:p>
        </p:txBody>
      </p:sp>
      <p:sp>
        <p:nvSpPr>
          <p:cNvPr id="21507" name="Rectangle 4"/>
          <p:cNvSpPr>
            <a:spLocks noGrp="1" noChangeArrowheads="1"/>
          </p:cNvSpPr>
          <p:nvPr>
            <p:ph sz="quarter" idx="1"/>
          </p:nvPr>
        </p:nvSpPr>
        <p:spPr>
          <a:xfrm>
            <a:off x="457200" y="1219200"/>
            <a:ext cx="4038600" cy="2209800"/>
          </a:xfrm>
        </p:spPr>
        <p:txBody>
          <a:bodyPr>
            <a:normAutofit fontScale="92500" lnSpcReduction="20000"/>
          </a:bodyPr>
          <a:lstStyle/>
          <a:p>
            <a:pPr eaLnBrk="1" hangingPunct="1"/>
            <a:r>
              <a:rPr lang="en-US" sz="2400" smtClean="0"/>
              <a:t>Finally take your object parameter and drop it back in where it says chicken</a:t>
            </a:r>
          </a:p>
          <a:p>
            <a:pPr eaLnBrk="1" hangingPunct="1"/>
            <a:r>
              <a:rPr lang="en-US" sz="2400" smtClean="0"/>
              <a:t>Your code should look like the picture below when you are done</a:t>
            </a:r>
          </a:p>
        </p:txBody>
      </p:sp>
      <p:pic>
        <p:nvPicPr>
          <p:cNvPr id="21508" name="Picture 8"/>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4572000" y="1524000"/>
            <a:ext cx="4419600" cy="2105025"/>
          </a:xfrm>
        </p:spPr>
      </p:pic>
      <p:pic>
        <p:nvPicPr>
          <p:cNvPr id="21509" name="Picture 9"/>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tretch>
            <a:fillRect/>
          </a:stretch>
        </p:blipFill>
        <p:spPr>
          <a:xfrm>
            <a:off x="457200" y="4522900"/>
            <a:ext cx="4038600" cy="1018950"/>
          </a:xfrm>
        </p:spPr>
      </p:pic>
    </p:spTree>
    <p:extLst>
      <p:ext uri="{BB962C8B-B14F-4D97-AF65-F5344CB8AC3E}">
        <p14:creationId xmlns:p14="http://schemas.microsoft.com/office/powerpoint/2010/main" val="399697219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smtClean="0"/>
              <a:t>Lists</a:t>
            </a:r>
          </a:p>
        </p:txBody>
      </p:sp>
      <p:sp>
        <p:nvSpPr>
          <p:cNvPr id="22531" name="Rectangle 7"/>
          <p:cNvSpPr>
            <a:spLocks noGrp="1" noChangeArrowheads="1"/>
          </p:cNvSpPr>
          <p:nvPr>
            <p:ph type="body" sz="half" idx="1"/>
          </p:nvPr>
        </p:nvSpPr>
        <p:spPr/>
        <p:txBody>
          <a:bodyPr/>
          <a:lstStyle/>
          <a:p>
            <a:pPr eaLnBrk="1" hangingPunct="1">
              <a:lnSpc>
                <a:spcPct val="90000"/>
              </a:lnSpc>
            </a:pPr>
            <a:r>
              <a:rPr lang="en-US" sz="2800" smtClean="0"/>
              <a:t>Now go back into your “chickmove” method and drag your “KickUpLeg” method into the “For all in Order” space.</a:t>
            </a:r>
          </a:p>
          <a:p>
            <a:pPr eaLnBrk="1" hangingPunct="1">
              <a:lnSpc>
                <a:spcPct val="90000"/>
              </a:lnSpc>
            </a:pPr>
            <a:r>
              <a:rPr lang="en-US" sz="2800" smtClean="0"/>
              <a:t>Select Expressions and then Item_from_ChickensDanceTogether</a:t>
            </a:r>
          </a:p>
        </p:txBody>
      </p:sp>
      <p:pic>
        <p:nvPicPr>
          <p:cNvPr id="22532" name="Picture 6"/>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tretch>
            <a:fillRect/>
          </a:stretch>
        </p:blipFill>
        <p:spPr>
          <a:xfrm>
            <a:off x="852952" y="3965426"/>
            <a:ext cx="7438096" cy="2133898"/>
          </a:xfrm>
        </p:spPr>
      </p:pic>
    </p:spTree>
    <p:extLst>
      <p:ext uri="{BB962C8B-B14F-4D97-AF65-F5344CB8AC3E}">
        <p14:creationId xmlns:p14="http://schemas.microsoft.com/office/powerpoint/2010/main" val="100896275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4"/>
          <p:cNvSpPr>
            <a:spLocks noGrp="1" noChangeArrowheads="1"/>
          </p:cNvSpPr>
          <p:nvPr>
            <p:ph sz="half" idx="1"/>
          </p:nvPr>
        </p:nvSpPr>
        <p:spPr>
          <a:xfrm>
            <a:off x="457200" y="1143000"/>
            <a:ext cx="4038600" cy="4983163"/>
          </a:xfrm>
        </p:spPr>
        <p:txBody>
          <a:bodyPr>
            <a:normAutofit fontScale="92500"/>
          </a:bodyPr>
          <a:lstStyle/>
          <a:p>
            <a:pPr eaLnBrk="1" hangingPunct="1"/>
            <a:r>
              <a:rPr lang="en-US" sz="2400" dirty="0" smtClean="0"/>
              <a:t>Now that this portion is programmed all the chickens will roll right and then left at the same time for the “Together Functions” and kick up their legs one at a time for the “For all in order Functions”</a:t>
            </a:r>
          </a:p>
          <a:p>
            <a:pPr eaLnBrk="1" hangingPunct="1"/>
            <a:r>
              <a:rPr lang="en-US" sz="2400" dirty="0" smtClean="0"/>
              <a:t>This saves lots of time and lines of code</a:t>
            </a:r>
          </a:p>
          <a:p>
            <a:pPr eaLnBrk="1" hangingPunct="1"/>
            <a:r>
              <a:rPr lang="en-US" sz="2400" dirty="0" smtClean="0"/>
              <a:t>Imagine if we had to program each chicken to do this individually!</a:t>
            </a:r>
          </a:p>
        </p:txBody>
      </p:sp>
      <p:pic>
        <p:nvPicPr>
          <p:cNvPr id="23556" name="Picture 6"/>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648200" y="1524000"/>
            <a:ext cx="3810000" cy="2730500"/>
          </a:xfrm>
        </p:spPr>
      </p:pic>
      <p:sp>
        <p:nvSpPr>
          <p:cNvPr id="23554" name="Rectangle 2"/>
          <p:cNvSpPr>
            <a:spLocks noGrp="1" noChangeArrowheads="1"/>
          </p:cNvSpPr>
          <p:nvPr>
            <p:ph type="title"/>
          </p:nvPr>
        </p:nvSpPr>
        <p:spPr>
          <a:xfrm>
            <a:off x="457200" y="320040"/>
            <a:ext cx="7242048" cy="746760"/>
          </a:xfrm>
        </p:spPr>
        <p:txBody>
          <a:bodyPr>
            <a:normAutofit/>
          </a:bodyPr>
          <a:lstStyle/>
          <a:p>
            <a:pPr eaLnBrk="1" hangingPunct="1"/>
            <a:r>
              <a:rPr lang="en-US" dirty="0" smtClean="0"/>
              <a:t>Lists</a:t>
            </a:r>
          </a:p>
        </p:txBody>
      </p:sp>
      <p:pic>
        <p:nvPicPr>
          <p:cNvPr id="23557"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0" y="4495800"/>
            <a:ext cx="2695575"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9692304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5"/>
          <p:cNvSpPr>
            <a:spLocks noGrp="1" noChangeArrowheads="1"/>
          </p:cNvSpPr>
          <p:nvPr>
            <p:ph sz="half" idx="1"/>
          </p:nvPr>
        </p:nvSpPr>
        <p:spPr>
          <a:xfrm>
            <a:off x="457200" y="1066800"/>
            <a:ext cx="4038600" cy="4800600"/>
          </a:xfrm>
        </p:spPr>
        <p:txBody>
          <a:bodyPr>
            <a:normAutofit fontScale="92500" lnSpcReduction="10000"/>
          </a:bodyPr>
          <a:lstStyle/>
          <a:p>
            <a:pPr eaLnBrk="1" hangingPunct="1"/>
            <a:r>
              <a:rPr lang="en-US" sz="2000" smtClean="0"/>
              <a:t>If you are not also using an Array and would like to visualize your list you can select the list visualization class from the Visualizations folder</a:t>
            </a:r>
          </a:p>
          <a:p>
            <a:pPr eaLnBrk="1" hangingPunct="1"/>
            <a:r>
              <a:rPr lang="en-US" sz="2000" smtClean="0"/>
              <a:t>DO NOT DO THIS RIGHT NOW OR IT WILL MESS UP THE LIST YOU JUST CREATED</a:t>
            </a:r>
          </a:p>
          <a:p>
            <a:pPr eaLnBrk="1" hangingPunct="1"/>
            <a:r>
              <a:rPr lang="en-US" sz="2000" smtClean="0"/>
              <a:t>After entering in all of the Chickens they should be aligned in a row that looks like this. </a:t>
            </a:r>
          </a:p>
          <a:p>
            <a:pPr eaLnBrk="1" hangingPunct="1"/>
            <a:r>
              <a:rPr lang="en-US" sz="2000" smtClean="0"/>
              <a:t>If you “Set is Showing to False” the List Visualization will disappear, but it is still there.</a:t>
            </a:r>
            <a:r>
              <a:rPr lang="en-US" smtClean="0"/>
              <a:t> </a:t>
            </a:r>
          </a:p>
        </p:txBody>
      </p:sp>
      <p:pic>
        <p:nvPicPr>
          <p:cNvPr id="24580" name="Picture 9"/>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tretch>
            <a:fillRect/>
          </a:stretch>
        </p:blipFill>
        <p:spPr>
          <a:xfrm>
            <a:off x="4648200" y="2541741"/>
            <a:ext cx="4038600" cy="2404756"/>
          </a:xfrm>
        </p:spPr>
      </p:pic>
      <p:sp>
        <p:nvSpPr>
          <p:cNvPr id="24578" name="Rectangle 4"/>
          <p:cNvSpPr>
            <a:spLocks noGrp="1" noChangeArrowheads="1"/>
          </p:cNvSpPr>
          <p:nvPr>
            <p:ph type="title"/>
          </p:nvPr>
        </p:nvSpPr>
        <p:spPr>
          <a:xfrm>
            <a:off x="457200" y="320040"/>
            <a:ext cx="7242048" cy="822960"/>
          </a:xfrm>
        </p:spPr>
        <p:txBody>
          <a:bodyPr>
            <a:normAutofit fontScale="90000"/>
          </a:bodyPr>
          <a:lstStyle/>
          <a:p>
            <a:pPr eaLnBrk="1" hangingPunct="1"/>
            <a:r>
              <a:rPr lang="en-US" dirty="0" smtClean="0"/>
              <a:t>Side note on List Visualizations</a:t>
            </a:r>
          </a:p>
        </p:txBody>
      </p:sp>
    </p:spTree>
    <p:extLst>
      <p:ext uri="{BB962C8B-B14F-4D97-AF65-F5344CB8AC3E}">
        <p14:creationId xmlns:p14="http://schemas.microsoft.com/office/powerpoint/2010/main" val="157995601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idx="1"/>
          </p:nvPr>
        </p:nvSpPr>
        <p:spPr/>
        <p:txBody>
          <a:bodyPr/>
          <a:lstStyle/>
          <a:p>
            <a:pPr eaLnBrk="1" hangingPunct="1"/>
            <a:r>
              <a:rPr lang="en-US" smtClean="0"/>
              <a:t>Lists are great for coding a group of objects to all do something. </a:t>
            </a:r>
          </a:p>
          <a:p>
            <a:pPr eaLnBrk="1" hangingPunct="1"/>
            <a:r>
              <a:rPr lang="en-US" smtClean="0"/>
              <a:t>But what if we want to code only some of the objects in our group to do something.</a:t>
            </a:r>
          </a:p>
          <a:p>
            <a:pPr eaLnBrk="1" hangingPunct="1"/>
            <a:r>
              <a:rPr lang="en-US" smtClean="0"/>
              <a:t>This is where Arrays come in.</a:t>
            </a:r>
          </a:p>
          <a:p>
            <a:pPr eaLnBrk="1" hangingPunct="1"/>
            <a:r>
              <a:rPr lang="en-US" smtClean="0"/>
              <a:t>The following slide will show the place that you need to go to find the Array. It is called “Array Visualization”.</a:t>
            </a:r>
          </a:p>
          <a:p>
            <a:pPr eaLnBrk="1" hangingPunct="1"/>
            <a:endParaRPr lang="en-US" smtClean="0"/>
          </a:p>
        </p:txBody>
      </p:sp>
      <p:sp>
        <p:nvSpPr>
          <p:cNvPr id="25602" name="Rectangle 2"/>
          <p:cNvSpPr>
            <a:spLocks noGrp="1" noChangeArrowheads="1"/>
          </p:cNvSpPr>
          <p:nvPr>
            <p:ph type="title"/>
          </p:nvPr>
        </p:nvSpPr>
        <p:spPr/>
        <p:txBody>
          <a:bodyPr/>
          <a:lstStyle/>
          <a:p>
            <a:pPr eaLnBrk="1" hangingPunct="1"/>
            <a:r>
              <a:rPr lang="en-US" smtClean="0"/>
              <a:t>Arrays</a:t>
            </a:r>
          </a:p>
        </p:txBody>
      </p:sp>
    </p:spTree>
    <p:extLst>
      <p:ext uri="{BB962C8B-B14F-4D97-AF65-F5344CB8AC3E}">
        <p14:creationId xmlns:p14="http://schemas.microsoft.com/office/powerpoint/2010/main" val="415359606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4"/>
          <p:cNvSpPr>
            <a:spLocks noGrp="1" noChangeArrowheads="1"/>
          </p:cNvSpPr>
          <p:nvPr>
            <p:ph type="title" sz="quarter"/>
          </p:nvPr>
        </p:nvSpPr>
        <p:spPr/>
        <p:txBody>
          <a:bodyPr/>
          <a:lstStyle/>
          <a:p>
            <a:pPr eaLnBrk="1" hangingPunct="1"/>
            <a:r>
              <a:rPr lang="en-US" smtClean="0"/>
              <a:t>Starting the Array</a:t>
            </a:r>
          </a:p>
        </p:txBody>
      </p:sp>
      <p:sp>
        <p:nvSpPr>
          <p:cNvPr id="26627" name="Rectangle 10"/>
          <p:cNvSpPr>
            <a:spLocks noGrp="1" noChangeArrowheads="1"/>
          </p:cNvSpPr>
          <p:nvPr>
            <p:ph sz="quarter" idx="1"/>
          </p:nvPr>
        </p:nvSpPr>
        <p:spPr/>
        <p:txBody>
          <a:bodyPr/>
          <a:lstStyle/>
          <a:p>
            <a:pPr eaLnBrk="1" hangingPunct="1"/>
            <a:r>
              <a:rPr lang="en-US" sz="2400" smtClean="0"/>
              <a:t>Go to add objects </a:t>
            </a:r>
          </a:p>
          <a:p>
            <a:pPr eaLnBrk="1" hangingPunct="1"/>
            <a:r>
              <a:rPr lang="en-US" sz="2400" smtClean="0"/>
              <a:t>Select the folder at the end of the list entitled “Visualizations”.</a:t>
            </a:r>
          </a:p>
        </p:txBody>
      </p:sp>
      <p:pic>
        <p:nvPicPr>
          <p:cNvPr id="26628" name="Picture 8"/>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5410200" y="1295400"/>
            <a:ext cx="2454275" cy="2490788"/>
          </a:xfrm>
        </p:spPr>
      </p:pic>
      <p:pic>
        <p:nvPicPr>
          <p:cNvPr id="26629" name="Picture 9"/>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4953000" y="3886200"/>
            <a:ext cx="2882900" cy="2187575"/>
          </a:xfrm>
        </p:spPr>
      </p:pic>
      <p:sp>
        <p:nvSpPr>
          <p:cNvPr id="26630" name="Rectangle 11"/>
          <p:cNvSpPr>
            <a:spLocks noGrp="1" noChangeArrowheads="1"/>
          </p:cNvSpPr>
          <p:nvPr>
            <p:ph sz="quarter" idx="4"/>
          </p:nvPr>
        </p:nvSpPr>
        <p:spPr>
          <a:xfrm>
            <a:off x="457200" y="3886200"/>
            <a:ext cx="4038600" cy="2187575"/>
          </a:xfrm>
        </p:spPr>
        <p:txBody>
          <a:bodyPr>
            <a:normAutofit fontScale="92500" lnSpcReduction="20000"/>
          </a:bodyPr>
          <a:lstStyle/>
          <a:p>
            <a:pPr eaLnBrk="1" hangingPunct="1"/>
            <a:r>
              <a:rPr lang="en-US" sz="2400" smtClean="0"/>
              <a:t>The first object on the left should be a class called “Array Visualizations”.</a:t>
            </a:r>
          </a:p>
          <a:p>
            <a:pPr eaLnBrk="1" hangingPunct="1"/>
            <a:r>
              <a:rPr lang="en-US" sz="2400" smtClean="0"/>
              <a:t>It should look like a strip of concrete.</a:t>
            </a:r>
          </a:p>
          <a:p>
            <a:pPr eaLnBrk="1" hangingPunct="1"/>
            <a:r>
              <a:rPr lang="en-US" sz="2400" smtClean="0"/>
              <a:t>Select it</a:t>
            </a:r>
          </a:p>
          <a:p>
            <a:pPr eaLnBrk="1" hangingPunct="1"/>
            <a:endParaRPr lang="en-US" sz="2400" smtClean="0"/>
          </a:p>
        </p:txBody>
      </p:sp>
    </p:spTree>
    <p:extLst>
      <p:ext uri="{BB962C8B-B14F-4D97-AF65-F5344CB8AC3E}">
        <p14:creationId xmlns:p14="http://schemas.microsoft.com/office/powerpoint/2010/main" val="347038281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8"/>
          <p:cNvSpPr>
            <a:spLocks noGrp="1" noChangeArrowheads="1"/>
          </p:cNvSpPr>
          <p:nvPr>
            <p:ph sz="half" idx="1"/>
          </p:nvPr>
        </p:nvSpPr>
        <p:spPr>
          <a:xfrm>
            <a:off x="457200" y="1295400"/>
            <a:ext cx="4038600" cy="4724400"/>
          </a:xfrm>
        </p:spPr>
        <p:txBody>
          <a:bodyPr>
            <a:normAutofit fontScale="92500"/>
          </a:bodyPr>
          <a:lstStyle/>
          <a:p>
            <a:pPr eaLnBrk="1" hangingPunct="1"/>
            <a:r>
              <a:rPr lang="en-US" sz="2400" smtClean="0"/>
              <a:t>We are going to use our Array for the chickens</a:t>
            </a:r>
          </a:p>
          <a:p>
            <a:pPr eaLnBrk="1" hangingPunct="1"/>
            <a:r>
              <a:rPr lang="en-US" sz="2400" smtClean="0"/>
              <a:t>When you add the Array to your world this box called “Initializing Array” will appear</a:t>
            </a:r>
          </a:p>
          <a:p>
            <a:pPr eaLnBrk="1" hangingPunct="1"/>
            <a:r>
              <a:rPr lang="en-US" sz="2400" smtClean="0"/>
              <a:t>Count the number of chickens you have and select the button “New Item” for that many.</a:t>
            </a:r>
          </a:p>
          <a:p>
            <a:pPr eaLnBrk="1" hangingPunct="1"/>
            <a:r>
              <a:rPr lang="en-US" sz="2400" smtClean="0"/>
              <a:t>Remember it will start at 0</a:t>
            </a:r>
          </a:p>
          <a:p>
            <a:pPr eaLnBrk="1" hangingPunct="1">
              <a:buFontTx/>
              <a:buNone/>
            </a:pPr>
            <a:endParaRPr lang="en-US" sz="2400" smtClean="0"/>
          </a:p>
        </p:txBody>
      </p:sp>
      <p:pic>
        <p:nvPicPr>
          <p:cNvPr id="27652" name="Picture 10"/>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tretch>
            <a:fillRect/>
          </a:stretch>
        </p:blipFill>
        <p:spPr>
          <a:xfrm>
            <a:off x="4648200" y="1729415"/>
            <a:ext cx="4038600" cy="4029408"/>
          </a:xfrm>
        </p:spPr>
      </p:pic>
      <p:sp>
        <p:nvSpPr>
          <p:cNvPr id="27650" name="Rectangle 2"/>
          <p:cNvSpPr>
            <a:spLocks noGrp="1" noChangeArrowheads="1"/>
          </p:cNvSpPr>
          <p:nvPr>
            <p:ph type="title"/>
          </p:nvPr>
        </p:nvSpPr>
        <p:spPr/>
        <p:txBody>
          <a:bodyPr/>
          <a:lstStyle/>
          <a:p>
            <a:pPr eaLnBrk="1" hangingPunct="1"/>
            <a:r>
              <a:rPr lang="en-US" smtClean="0"/>
              <a:t>Starting the Array</a:t>
            </a:r>
          </a:p>
        </p:txBody>
      </p:sp>
    </p:spTree>
    <p:extLst>
      <p:ext uri="{BB962C8B-B14F-4D97-AF65-F5344CB8AC3E}">
        <p14:creationId xmlns:p14="http://schemas.microsoft.com/office/powerpoint/2010/main" val="328207424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5"/>
          <p:cNvSpPr>
            <a:spLocks noGrp="1" noChangeArrowheads="1"/>
          </p:cNvSpPr>
          <p:nvPr>
            <p:ph sz="half" idx="1"/>
          </p:nvPr>
        </p:nvSpPr>
        <p:spPr>
          <a:xfrm>
            <a:off x="457200" y="1143000"/>
            <a:ext cx="4038600" cy="4800600"/>
          </a:xfrm>
        </p:spPr>
        <p:txBody>
          <a:bodyPr>
            <a:normAutofit fontScale="92500" lnSpcReduction="10000"/>
          </a:bodyPr>
          <a:lstStyle/>
          <a:p>
            <a:pPr eaLnBrk="1" hangingPunct="1"/>
            <a:r>
              <a:rPr lang="en-US" smtClean="0"/>
              <a:t>Once you have entered all of your chickens into the Array your screen should look like this.</a:t>
            </a:r>
          </a:p>
          <a:p>
            <a:pPr eaLnBrk="1" hangingPunct="1"/>
            <a:r>
              <a:rPr lang="en-US" smtClean="0"/>
              <a:t>If it does, click ok. If not, hit “undo” at the top left and try again</a:t>
            </a:r>
          </a:p>
          <a:p>
            <a:pPr eaLnBrk="1" hangingPunct="1"/>
            <a:r>
              <a:rPr lang="en-US" smtClean="0"/>
              <a:t>Once you hit ok your chickens should be neatly lined up on the Array.</a:t>
            </a:r>
          </a:p>
          <a:p>
            <a:pPr eaLnBrk="1" hangingPunct="1"/>
            <a:endParaRPr lang="en-US" smtClean="0"/>
          </a:p>
          <a:p>
            <a:pPr eaLnBrk="1" hangingPunct="1">
              <a:buFontTx/>
              <a:buNone/>
            </a:pPr>
            <a:endParaRPr lang="en-US" smtClean="0"/>
          </a:p>
        </p:txBody>
      </p:sp>
      <p:pic>
        <p:nvPicPr>
          <p:cNvPr id="28676" name="Picture 7"/>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tretch>
            <a:fillRect/>
          </a:stretch>
        </p:blipFill>
        <p:spPr>
          <a:xfrm>
            <a:off x="5174298" y="1481138"/>
            <a:ext cx="2986403" cy="4525962"/>
          </a:xfrm>
        </p:spPr>
      </p:pic>
      <p:sp>
        <p:nvSpPr>
          <p:cNvPr id="28674" name="Rectangle 4"/>
          <p:cNvSpPr>
            <a:spLocks noGrp="1" noChangeArrowheads="1"/>
          </p:cNvSpPr>
          <p:nvPr>
            <p:ph type="title"/>
          </p:nvPr>
        </p:nvSpPr>
        <p:spPr>
          <a:xfrm>
            <a:off x="457200" y="320040"/>
            <a:ext cx="7242048" cy="899160"/>
          </a:xfrm>
        </p:spPr>
        <p:txBody>
          <a:bodyPr/>
          <a:lstStyle/>
          <a:p>
            <a:pPr eaLnBrk="1" hangingPunct="1"/>
            <a:r>
              <a:rPr lang="en-US" dirty="0" smtClean="0"/>
              <a:t>Array continued</a:t>
            </a:r>
          </a:p>
        </p:txBody>
      </p:sp>
    </p:spTree>
    <p:extLst>
      <p:ext uri="{BB962C8B-B14F-4D97-AF65-F5344CB8AC3E}">
        <p14:creationId xmlns:p14="http://schemas.microsoft.com/office/powerpoint/2010/main" val="185540370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a:spLocks noGrp="1" noChangeArrowheads="1"/>
          </p:cNvSpPr>
          <p:nvPr>
            <p:ph idx="1"/>
          </p:nvPr>
        </p:nvSpPr>
        <p:spPr/>
        <p:txBody>
          <a:bodyPr/>
          <a:lstStyle/>
          <a:p>
            <a:pPr eaLnBrk="1" hangingPunct="1"/>
            <a:r>
              <a:rPr lang="en-US" smtClean="0"/>
              <a:t>Side Note: As with the list you can set “Is showing to False” to hide your Array Visualization so that the chickens do not look like they are standing on anything.</a:t>
            </a:r>
          </a:p>
          <a:p>
            <a:pPr eaLnBrk="1" hangingPunct="1"/>
            <a:r>
              <a:rPr lang="en-US" smtClean="0"/>
              <a:t>However, the Array is still there and functional</a:t>
            </a:r>
          </a:p>
        </p:txBody>
      </p:sp>
      <p:sp>
        <p:nvSpPr>
          <p:cNvPr id="29698" name="Rectangle 2"/>
          <p:cNvSpPr>
            <a:spLocks noGrp="1" noChangeArrowheads="1"/>
          </p:cNvSpPr>
          <p:nvPr>
            <p:ph type="title"/>
          </p:nvPr>
        </p:nvSpPr>
        <p:spPr/>
        <p:txBody>
          <a:bodyPr/>
          <a:lstStyle/>
          <a:p>
            <a:pPr eaLnBrk="1" hangingPunct="1"/>
            <a:r>
              <a:rPr lang="en-US" smtClean="0"/>
              <a:t>Arrays</a:t>
            </a:r>
          </a:p>
        </p:txBody>
      </p:sp>
    </p:spTree>
    <p:extLst>
      <p:ext uri="{BB962C8B-B14F-4D97-AF65-F5344CB8AC3E}">
        <p14:creationId xmlns:p14="http://schemas.microsoft.com/office/powerpoint/2010/main" val="106135380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4"/>
          <p:cNvSpPr>
            <a:spLocks noGrp="1" noChangeArrowheads="1"/>
          </p:cNvSpPr>
          <p:nvPr>
            <p:ph type="title"/>
          </p:nvPr>
        </p:nvSpPr>
        <p:spPr/>
        <p:txBody>
          <a:bodyPr/>
          <a:lstStyle/>
          <a:p>
            <a:pPr eaLnBrk="1" hangingPunct="1"/>
            <a:r>
              <a:rPr lang="en-US" smtClean="0"/>
              <a:t>Arrays Continued</a:t>
            </a:r>
          </a:p>
        </p:txBody>
      </p:sp>
      <p:sp>
        <p:nvSpPr>
          <p:cNvPr id="30723" name="Rectangle 5"/>
          <p:cNvSpPr>
            <a:spLocks noGrp="1" noChangeArrowheads="1"/>
          </p:cNvSpPr>
          <p:nvPr>
            <p:ph type="body" sz="half" idx="1"/>
          </p:nvPr>
        </p:nvSpPr>
        <p:spPr/>
        <p:txBody>
          <a:bodyPr/>
          <a:lstStyle/>
          <a:p>
            <a:pPr eaLnBrk="1" hangingPunct="1"/>
            <a:r>
              <a:rPr lang="en-US" sz="2800" dirty="0" smtClean="0"/>
              <a:t>We want all of our chickens to turn to face Cinderella </a:t>
            </a:r>
          </a:p>
          <a:p>
            <a:pPr eaLnBrk="1" hangingPunct="1"/>
            <a:r>
              <a:rPr lang="en-US" sz="2800" dirty="0" smtClean="0"/>
              <a:t>Code the simple method first</a:t>
            </a:r>
          </a:p>
        </p:txBody>
      </p:sp>
      <p:pic>
        <p:nvPicPr>
          <p:cNvPr id="30724" name="Picture 9"/>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1447800" y="3352800"/>
            <a:ext cx="5867400" cy="3167063"/>
          </a:xfrm>
        </p:spPr>
      </p:pic>
    </p:spTree>
    <p:extLst>
      <p:ext uri="{BB962C8B-B14F-4D97-AF65-F5344CB8AC3E}">
        <p14:creationId xmlns:p14="http://schemas.microsoft.com/office/powerpoint/2010/main" val="338396439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4"/>
          <p:cNvSpPr>
            <a:spLocks noGrp="1" noChangeArrowheads="1"/>
          </p:cNvSpPr>
          <p:nvPr>
            <p:ph type="title" sz="quarter"/>
          </p:nvPr>
        </p:nvSpPr>
        <p:spPr/>
        <p:txBody>
          <a:bodyPr/>
          <a:lstStyle/>
          <a:p>
            <a:pPr eaLnBrk="1" hangingPunct="1"/>
            <a:r>
              <a:rPr lang="en-US" smtClean="0"/>
              <a:t>Arrays Continued</a:t>
            </a:r>
          </a:p>
        </p:txBody>
      </p:sp>
      <p:pic>
        <p:nvPicPr>
          <p:cNvPr id="31748" name="Picture 10"/>
          <p:cNvPicPr>
            <a:picLocks noGrp="1" noChangeAspect="1" noChangeArrowheads="1"/>
          </p:cNvPicPr>
          <p:nvPr>
            <p:ph sz="quarter" idx="1"/>
          </p:nvPr>
        </p:nvPicPr>
        <p:blipFill>
          <a:blip r:embed="rId3">
            <a:extLst>
              <a:ext uri="{28A0092B-C50C-407E-A947-70E740481C1C}">
                <a14:useLocalDpi xmlns:a14="http://schemas.microsoft.com/office/drawing/2010/main" val="0"/>
              </a:ext>
            </a:extLst>
          </a:blip>
          <a:stretch>
            <a:fillRect/>
          </a:stretch>
        </p:blipFill>
        <p:spPr>
          <a:xfrm>
            <a:off x="457200" y="1896025"/>
            <a:ext cx="4038600" cy="1594338"/>
          </a:xfrm>
        </p:spPr>
      </p:pic>
      <p:sp>
        <p:nvSpPr>
          <p:cNvPr id="31747" name="Rectangle 8"/>
          <p:cNvSpPr>
            <a:spLocks noGrp="1" noChangeArrowheads="1"/>
          </p:cNvSpPr>
          <p:nvPr>
            <p:ph sz="quarter" idx="2"/>
          </p:nvPr>
        </p:nvSpPr>
        <p:spPr>
          <a:xfrm>
            <a:off x="5791200" y="1981200"/>
            <a:ext cx="2819400" cy="2362200"/>
          </a:xfrm>
        </p:spPr>
        <p:txBody>
          <a:bodyPr>
            <a:normAutofit fontScale="70000" lnSpcReduction="20000"/>
          </a:bodyPr>
          <a:lstStyle/>
          <a:p>
            <a:pPr eaLnBrk="1" hangingPunct="1"/>
            <a:r>
              <a:rPr lang="en-US" sz="2400" smtClean="0"/>
              <a:t>Now go to Array Visualizations, properties, and drag the “elements” tab down to your parameter.</a:t>
            </a:r>
          </a:p>
          <a:p>
            <a:pPr eaLnBrk="1" hangingPunct="1"/>
            <a:r>
              <a:rPr lang="en-US" sz="2400" smtClean="0"/>
              <a:t>Select 0, repeat this step for each chicken in your Array.</a:t>
            </a:r>
          </a:p>
        </p:txBody>
      </p:sp>
    </p:spTree>
    <p:extLst>
      <p:ext uri="{BB962C8B-B14F-4D97-AF65-F5344CB8AC3E}">
        <p14:creationId xmlns:p14="http://schemas.microsoft.com/office/powerpoint/2010/main" val="391303547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457200" y="274638"/>
            <a:ext cx="8229600" cy="868362"/>
          </a:xfrm>
        </p:spPr>
        <p:txBody>
          <a:bodyPr/>
          <a:lstStyle/>
          <a:p>
            <a:pPr eaLnBrk="1" hangingPunct="1"/>
            <a:r>
              <a:rPr lang="en-US" dirty="0" smtClean="0"/>
              <a:t>Array Continued</a:t>
            </a:r>
          </a:p>
        </p:txBody>
      </p:sp>
      <p:sp>
        <p:nvSpPr>
          <p:cNvPr id="32771" name="Rectangle 4"/>
          <p:cNvSpPr>
            <a:spLocks noGrp="1" noChangeArrowheads="1"/>
          </p:cNvSpPr>
          <p:nvPr>
            <p:ph sz="quarter" idx="1"/>
          </p:nvPr>
        </p:nvSpPr>
        <p:spPr>
          <a:xfrm>
            <a:off x="457200" y="1219200"/>
            <a:ext cx="4038600" cy="2362200"/>
          </a:xfrm>
        </p:spPr>
        <p:txBody>
          <a:bodyPr>
            <a:normAutofit fontScale="92500" lnSpcReduction="10000"/>
          </a:bodyPr>
          <a:lstStyle/>
          <a:p>
            <a:pPr eaLnBrk="1" hangingPunct="1"/>
            <a:r>
              <a:rPr lang="en-US" sz="2400" smtClean="0"/>
              <a:t>Note the small circle on the left labeled “elements.”</a:t>
            </a:r>
          </a:p>
          <a:p>
            <a:pPr eaLnBrk="1" hangingPunct="1"/>
            <a:r>
              <a:rPr lang="en-US" sz="2400" smtClean="0"/>
              <a:t>This is how your array will appear in your tool bar after you have entered it in</a:t>
            </a:r>
          </a:p>
        </p:txBody>
      </p:sp>
      <p:sp>
        <p:nvSpPr>
          <p:cNvPr id="32772" name="Rectangle 5"/>
          <p:cNvSpPr>
            <a:spLocks noGrp="1" noChangeArrowheads="1"/>
          </p:cNvSpPr>
          <p:nvPr>
            <p:ph sz="quarter" idx="2"/>
          </p:nvPr>
        </p:nvSpPr>
        <p:spPr>
          <a:xfrm>
            <a:off x="4648200" y="1219200"/>
            <a:ext cx="4038600" cy="2362200"/>
          </a:xfrm>
        </p:spPr>
        <p:txBody>
          <a:bodyPr/>
          <a:lstStyle/>
          <a:p>
            <a:pPr eaLnBrk="1" hangingPunct="1"/>
            <a:r>
              <a:rPr lang="en-US" sz="2400" smtClean="0"/>
              <a:t>Select each number down the line, till you have all of your chickens in the code.</a:t>
            </a:r>
          </a:p>
        </p:txBody>
      </p:sp>
      <p:pic>
        <p:nvPicPr>
          <p:cNvPr id="32773"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3654425"/>
            <a:ext cx="6934200" cy="300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6402165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normAutofit/>
          </a:bodyPr>
          <a:lstStyle/>
          <a:p>
            <a:pPr eaLnBrk="1" hangingPunct="1"/>
            <a:r>
              <a:rPr lang="en-US" smtClean="0"/>
              <a:t>Complete Turn to Face Code</a:t>
            </a:r>
          </a:p>
        </p:txBody>
      </p:sp>
      <p:pic>
        <p:nvPicPr>
          <p:cNvPr id="3379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524000"/>
            <a:ext cx="8686800" cy="378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2636819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p:cNvSpPr>
            <a:spLocks noGrp="1" noChangeArrowheads="1"/>
          </p:cNvSpPr>
          <p:nvPr>
            <p:ph idx="1"/>
          </p:nvPr>
        </p:nvSpPr>
        <p:spPr/>
        <p:txBody>
          <a:bodyPr/>
          <a:lstStyle/>
          <a:p>
            <a:pPr eaLnBrk="1" hangingPunct="1"/>
            <a:r>
              <a:rPr lang="en-US" smtClean="0"/>
              <a:t>Play your animation, the chickens should all turn to face Cinderella.</a:t>
            </a:r>
          </a:p>
          <a:p>
            <a:pPr eaLnBrk="1" hangingPunct="1"/>
            <a:r>
              <a:rPr lang="en-US" smtClean="0"/>
              <a:t>Now, lets try separating out the commands</a:t>
            </a:r>
          </a:p>
          <a:p>
            <a:pPr eaLnBrk="1" hangingPunct="1"/>
            <a:r>
              <a:rPr lang="en-US" smtClean="0"/>
              <a:t>We want every other chicken to move up and every other chicken to move down. The first step is to code the simple process of moving up and down with any one of the chickens. </a:t>
            </a:r>
          </a:p>
          <a:p>
            <a:pPr eaLnBrk="1" hangingPunct="1">
              <a:buFontTx/>
              <a:buNone/>
            </a:pPr>
            <a:endParaRPr lang="en-US" smtClean="0"/>
          </a:p>
        </p:txBody>
      </p:sp>
      <p:sp>
        <p:nvSpPr>
          <p:cNvPr id="34818" name="Rectangle 2"/>
          <p:cNvSpPr>
            <a:spLocks noGrp="1" noChangeArrowheads="1"/>
          </p:cNvSpPr>
          <p:nvPr>
            <p:ph type="title"/>
          </p:nvPr>
        </p:nvSpPr>
        <p:spPr/>
        <p:txBody>
          <a:bodyPr/>
          <a:lstStyle/>
          <a:p>
            <a:pPr eaLnBrk="1" hangingPunct="1"/>
            <a:r>
              <a:rPr lang="en-US" smtClean="0"/>
              <a:t>More with Arrays</a:t>
            </a:r>
          </a:p>
        </p:txBody>
      </p:sp>
    </p:spTree>
    <p:extLst>
      <p:ext uri="{BB962C8B-B14F-4D97-AF65-F5344CB8AC3E}">
        <p14:creationId xmlns:p14="http://schemas.microsoft.com/office/powerpoint/2010/main" val="374235405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sz="quarter"/>
          </p:nvPr>
        </p:nvSpPr>
        <p:spPr/>
        <p:txBody>
          <a:bodyPr>
            <a:normAutofit fontScale="90000"/>
          </a:bodyPr>
          <a:lstStyle/>
          <a:p>
            <a:pPr eaLnBrk="1" hangingPunct="1"/>
            <a:r>
              <a:rPr lang="en-US" sz="4000" smtClean="0"/>
              <a:t>Getting Chickens to do Different Things</a:t>
            </a:r>
          </a:p>
        </p:txBody>
      </p:sp>
      <p:sp>
        <p:nvSpPr>
          <p:cNvPr id="35843" name="Rectangle 4"/>
          <p:cNvSpPr>
            <a:spLocks noGrp="1" noChangeArrowheads="1"/>
          </p:cNvSpPr>
          <p:nvPr>
            <p:ph sz="quarter" idx="1"/>
          </p:nvPr>
        </p:nvSpPr>
        <p:spPr/>
        <p:txBody>
          <a:bodyPr/>
          <a:lstStyle/>
          <a:p>
            <a:pPr eaLnBrk="1" hangingPunct="1"/>
            <a:r>
              <a:rPr lang="en-US" sz="2400" smtClean="0"/>
              <a:t> when you add the Array visualization, simply choose certain numbers to do a task rather than all of them.</a:t>
            </a:r>
          </a:p>
        </p:txBody>
      </p:sp>
      <p:sp>
        <p:nvSpPr>
          <p:cNvPr id="35844" name="Rectangle 5"/>
          <p:cNvSpPr>
            <a:spLocks noGrp="1" noChangeArrowheads="1"/>
          </p:cNvSpPr>
          <p:nvPr>
            <p:ph sz="quarter" idx="2"/>
          </p:nvPr>
        </p:nvSpPr>
        <p:spPr/>
        <p:txBody>
          <a:bodyPr/>
          <a:lstStyle/>
          <a:p>
            <a:pPr eaLnBrk="1" hangingPunct="1"/>
            <a:r>
              <a:rPr lang="en-US" sz="2400" smtClean="0"/>
              <a:t>Then you add another task and set the rest of the items in the Array to that task</a:t>
            </a:r>
          </a:p>
        </p:txBody>
      </p:sp>
      <p:pic>
        <p:nvPicPr>
          <p:cNvPr id="35845" name="Picture 10"/>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tretch>
            <a:fillRect/>
          </a:stretch>
        </p:blipFill>
        <p:spPr>
          <a:xfrm>
            <a:off x="457200" y="4008811"/>
            <a:ext cx="4038600" cy="2047129"/>
          </a:xfrm>
        </p:spPr>
      </p:pic>
    </p:spTree>
    <p:extLst>
      <p:ext uri="{BB962C8B-B14F-4D97-AF65-F5344CB8AC3E}">
        <p14:creationId xmlns:p14="http://schemas.microsoft.com/office/powerpoint/2010/main" val="374673644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US" smtClean="0"/>
              <a:t>Arrays Continued</a:t>
            </a:r>
          </a:p>
        </p:txBody>
      </p:sp>
      <p:sp>
        <p:nvSpPr>
          <p:cNvPr id="36867" name="Rectangle 6"/>
          <p:cNvSpPr>
            <a:spLocks noGrp="1" noChangeArrowheads="1"/>
          </p:cNvSpPr>
          <p:nvPr>
            <p:ph sz="quarter" idx="1"/>
          </p:nvPr>
        </p:nvSpPr>
        <p:spPr/>
        <p:txBody>
          <a:bodyPr>
            <a:normAutofit fontScale="92500" lnSpcReduction="20000"/>
          </a:bodyPr>
          <a:lstStyle/>
          <a:p>
            <a:pPr eaLnBrk="1" hangingPunct="1"/>
            <a:r>
              <a:rPr lang="en-US" sz="2400" smtClean="0"/>
              <a:t>Once you have finished plugging in the Array your code should look like this</a:t>
            </a:r>
          </a:p>
          <a:p>
            <a:pPr eaLnBrk="1" hangingPunct="1"/>
            <a:r>
              <a:rPr lang="en-US" sz="2400" smtClean="0"/>
              <a:t>Note that only chickens 0, 2, and 4 are going to move.</a:t>
            </a:r>
          </a:p>
        </p:txBody>
      </p:sp>
      <p:sp>
        <p:nvSpPr>
          <p:cNvPr id="36868" name="Rectangle 7"/>
          <p:cNvSpPr>
            <a:spLocks noGrp="1" noChangeArrowheads="1"/>
          </p:cNvSpPr>
          <p:nvPr>
            <p:ph sz="quarter" idx="2"/>
          </p:nvPr>
        </p:nvSpPr>
        <p:spPr>
          <a:xfrm>
            <a:off x="4648200" y="1143000"/>
            <a:ext cx="4038600" cy="2514600"/>
          </a:xfrm>
        </p:spPr>
        <p:txBody>
          <a:bodyPr>
            <a:normAutofit fontScale="92500" lnSpcReduction="10000"/>
          </a:bodyPr>
          <a:lstStyle/>
          <a:p>
            <a:pPr eaLnBrk="1" hangingPunct="1"/>
            <a:r>
              <a:rPr lang="en-US" sz="2400" smtClean="0"/>
              <a:t>This is the beauty of the Array</a:t>
            </a:r>
          </a:p>
          <a:p>
            <a:pPr eaLnBrk="1" hangingPunct="1"/>
            <a:r>
              <a:rPr lang="en-US" sz="2400" smtClean="0"/>
              <a:t>It allows you to only move selected objects in your Array</a:t>
            </a:r>
          </a:p>
          <a:p>
            <a:pPr eaLnBrk="1" hangingPunct="1"/>
            <a:r>
              <a:rPr lang="en-US" sz="2400" smtClean="0"/>
              <a:t>Whereas with the List you must move everything</a:t>
            </a:r>
          </a:p>
          <a:p>
            <a:pPr eaLnBrk="1" hangingPunct="1">
              <a:buFontTx/>
              <a:buNone/>
            </a:pPr>
            <a:endParaRPr lang="en-US" sz="2400" smtClean="0"/>
          </a:p>
        </p:txBody>
      </p:sp>
      <p:pic>
        <p:nvPicPr>
          <p:cNvPr id="36869"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4038600"/>
            <a:ext cx="7848600" cy="258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7734630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5"/>
          <p:cNvSpPr>
            <a:spLocks noGrp="1" noChangeArrowheads="1"/>
          </p:cNvSpPr>
          <p:nvPr>
            <p:ph sz="half" idx="1"/>
          </p:nvPr>
        </p:nvSpPr>
        <p:spPr/>
        <p:txBody>
          <a:bodyPr>
            <a:normAutofit fontScale="92500" lnSpcReduction="10000"/>
          </a:bodyPr>
          <a:lstStyle/>
          <a:p>
            <a:pPr eaLnBrk="1" hangingPunct="1"/>
            <a:r>
              <a:rPr lang="en-US" smtClean="0"/>
              <a:t>Now play it.</a:t>
            </a:r>
          </a:p>
          <a:p>
            <a:pPr eaLnBrk="1" hangingPunct="1"/>
            <a:r>
              <a:rPr lang="en-US" smtClean="0"/>
              <a:t>Note how Chickens 0, 2 and 4 are moving down while chickens 1, 3, and 5 are moving up.</a:t>
            </a:r>
          </a:p>
          <a:p>
            <a:pPr eaLnBrk="1" hangingPunct="1"/>
            <a:r>
              <a:rPr lang="en-US" smtClean="0"/>
              <a:t>You can program each chicken individually or in any number that you want.</a:t>
            </a:r>
          </a:p>
        </p:txBody>
      </p:sp>
      <p:pic>
        <p:nvPicPr>
          <p:cNvPr id="37892" name="Picture 7"/>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tretch>
            <a:fillRect/>
          </a:stretch>
        </p:blipFill>
        <p:spPr>
          <a:xfrm>
            <a:off x="4648200" y="2591418"/>
            <a:ext cx="4038600" cy="2305401"/>
          </a:xfrm>
        </p:spPr>
      </p:pic>
      <p:sp>
        <p:nvSpPr>
          <p:cNvPr id="37890" name="Rectangle 4"/>
          <p:cNvSpPr>
            <a:spLocks noGrp="1" noChangeArrowheads="1"/>
          </p:cNvSpPr>
          <p:nvPr>
            <p:ph type="title"/>
          </p:nvPr>
        </p:nvSpPr>
        <p:spPr/>
        <p:txBody>
          <a:bodyPr/>
          <a:lstStyle/>
          <a:p>
            <a:pPr eaLnBrk="1" hangingPunct="1"/>
            <a:r>
              <a:rPr lang="en-US" smtClean="0"/>
              <a:t>Arrays</a:t>
            </a:r>
          </a:p>
        </p:txBody>
      </p:sp>
    </p:spTree>
    <p:extLst>
      <p:ext uri="{BB962C8B-B14F-4D97-AF65-F5344CB8AC3E}">
        <p14:creationId xmlns:p14="http://schemas.microsoft.com/office/powerpoint/2010/main" val="388953630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6" name="Picture 6"/>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152400" y="1905000"/>
            <a:ext cx="3733800" cy="2278251"/>
          </a:xfrm>
        </p:spPr>
      </p:pic>
      <p:sp>
        <p:nvSpPr>
          <p:cNvPr id="38915" name="Rectangle 5"/>
          <p:cNvSpPr>
            <a:spLocks noGrp="1" noChangeArrowheads="1"/>
          </p:cNvSpPr>
          <p:nvPr>
            <p:ph sz="half" idx="2"/>
          </p:nvPr>
        </p:nvSpPr>
        <p:spPr/>
        <p:txBody>
          <a:bodyPr>
            <a:normAutofit lnSpcReduction="10000"/>
          </a:bodyPr>
          <a:lstStyle/>
          <a:p>
            <a:pPr eaLnBrk="1" hangingPunct="1"/>
            <a:r>
              <a:rPr lang="en-US" smtClean="0"/>
              <a:t>Finally, lets drop our “chickmove” method into our world.myfirstmethod. So that it will play in our animation.</a:t>
            </a:r>
          </a:p>
          <a:p>
            <a:pPr eaLnBrk="1" hangingPunct="1"/>
            <a:r>
              <a:rPr lang="en-US" smtClean="0"/>
              <a:t>For the parameter, select “ArrayVisualization.”</a:t>
            </a:r>
          </a:p>
        </p:txBody>
      </p:sp>
      <p:sp>
        <p:nvSpPr>
          <p:cNvPr id="38914" name="Rectangle 2"/>
          <p:cNvSpPr>
            <a:spLocks noGrp="1" noChangeArrowheads="1"/>
          </p:cNvSpPr>
          <p:nvPr>
            <p:ph type="title"/>
          </p:nvPr>
        </p:nvSpPr>
        <p:spPr/>
        <p:txBody>
          <a:bodyPr/>
          <a:lstStyle/>
          <a:p>
            <a:pPr eaLnBrk="1" hangingPunct="1"/>
            <a:r>
              <a:rPr lang="en-US" smtClean="0"/>
              <a:t>Arrays</a:t>
            </a:r>
          </a:p>
        </p:txBody>
      </p:sp>
    </p:spTree>
    <p:extLst>
      <p:ext uri="{BB962C8B-B14F-4D97-AF65-F5344CB8AC3E}">
        <p14:creationId xmlns:p14="http://schemas.microsoft.com/office/powerpoint/2010/main" val="243710758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4"/>
          <p:cNvSpPr>
            <a:spLocks noGrp="1" noChangeArrowheads="1"/>
          </p:cNvSpPr>
          <p:nvPr>
            <p:ph sz="half" idx="1"/>
          </p:nvPr>
        </p:nvSpPr>
        <p:spPr/>
        <p:txBody>
          <a:bodyPr/>
          <a:lstStyle/>
          <a:p>
            <a:pPr eaLnBrk="1" hangingPunct="1"/>
            <a:r>
              <a:rPr lang="en-US" smtClean="0"/>
              <a:t>Now we are going to learn a faster way to make Array’s work.</a:t>
            </a:r>
          </a:p>
          <a:p>
            <a:pPr eaLnBrk="1" hangingPunct="1"/>
            <a:r>
              <a:rPr lang="en-US" smtClean="0"/>
              <a:t>Lets write a new method called “Chicken move again”</a:t>
            </a:r>
          </a:p>
          <a:p>
            <a:pPr eaLnBrk="1" hangingPunct="1">
              <a:buFontTx/>
              <a:buNone/>
            </a:pPr>
            <a:endParaRPr lang="en-US" smtClean="0"/>
          </a:p>
        </p:txBody>
      </p:sp>
      <p:pic>
        <p:nvPicPr>
          <p:cNvPr id="39940" name="Picture 7"/>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tretch>
            <a:fillRect/>
          </a:stretch>
        </p:blipFill>
        <p:spPr>
          <a:xfrm>
            <a:off x="4852734" y="2605722"/>
            <a:ext cx="3629532" cy="2276793"/>
          </a:xfrm>
        </p:spPr>
      </p:pic>
      <p:sp>
        <p:nvSpPr>
          <p:cNvPr id="39938" name="Rectangle 2"/>
          <p:cNvSpPr>
            <a:spLocks noGrp="1" noChangeArrowheads="1"/>
          </p:cNvSpPr>
          <p:nvPr>
            <p:ph type="title"/>
          </p:nvPr>
        </p:nvSpPr>
        <p:spPr/>
        <p:txBody>
          <a:bodyPr/>
          <a:lstStyle/>
          <a:p>
            <a:pPr eaLnBrk="1" hangingPunct="1"/>
            <a:r>
              <a:rPr lang="en-US" smtClean="0"/>
              <a:t>The Complicated Loop</a:t>
            </a:r>
          </a:p>
        </p:txBody>
      </p:sp>
    </p:spTree>
    <p:extLst>
      <p:ext uri="{BB962C8B-B14F-4D97-AF65-F5344CB8AC3E}">
        <p14:creationId xmlns:p14="http://schemas.microsoft.com/office/powerpoint/2010/main" val="377028749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4" name="Picture 6"/>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tretch>
            <a:fillRect/>
          </a:stretch>
        </p:blipFill>
        <p:spPr>
          <a:xfrm>
            <a:off x="457200" y="2026798"/>
            <a:ext cx="4038600" cy="3434642"/>
          </a:xfrm>
        </p:spPr>
      </p:pic>
      <p:sp>
        <p:nvSpPr>
          <p:cNvPr id="40963" name="Rectangle 5"/>
          <p:cNvSpPr>
            <a:spLocks noGrp="1" noChangeArrowheads="1"/>
          </p:cNvSpPr>
          <p:nvPr>
            <p:ph sz="half" idx="2"/>
          </p:nvPr>
        </p:nvSpPr>
        <p:spPr>
          <a:xfrm>
            <a:off x="4953000" y="1600200"/>
            <a:ext cx="2746248" cy="4525963"/>
          </a:xfrm>
        </p:spPr>
        <p:txBody>
          <a:bodyPr/>
          <a:lstStyle/>
          <a:p>
            <a:pPr eaLnBrk="1" hangingPunct="1">
              <a:buFontTx/>
              <a:buNone/>
            </a:pPr>
            <a:r>
              <a:rPr lang="en-US" dirty="0" smtClean="0"/>
              <a:t> - First drag in a regular loop and select 6 times </a:t>
            </a:r>
          </a:p>
        </p:txBody>
      </p:sp>
      <p:sp>
        <p:nvSpPr>
          <p:cNvPr id="40962" name="Rectangle 2"/>
          <p:cNvSpPr>
            <a:spLocks noGrp="1" noChangeArrowheads="1"/>
          </p:cNvSpPr>
          <p:nvPr>
            <p:ph type="title"/>
          </p:nvPr>
        </p:nvSpPr>
        <p:spPr/>
        <p:txBody>
          <a:bodyPr/>
          <a:lstStyle/>
          <a:p>
            <a:pPr eaLnBrk="1" hangingPunct="1"/>
            <a:r>
              <a:rPr lang="en-US" smtClean="0"/>
              <a:t>The Complicated Loop</a:t>
            </a:r>
          </a:p>
        </p:txBody>
      </p:sp>
    </p:spTree>
    <p:extLst>
      <p:ext uri="{BB962C8B-B14F-4D97-AF65-F5344CB8AC3E}">
        <p14:creationId xmlns:p14="http://schemas.microsoft.com/office/powerpoint/2010/main" val="153446342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sz="quarter"/>
          </p:nvPr>
        </p:nvSpPr>
        <p:spPr/>
        <p:txBody>
          <a:bodyPr/>
          <a:lstStyle/>
          <a:p>
            <a:pPr eaLnBrk="1" hangingPunct="1"/>
            <a:r>
              <a:rPr lang="en-US" smtClean="0"/>
              <a:t>The Complicated Loop</a:t>
            </a:r>
          </a:p>
        </p:txBody>
      </p:sp>
      <p:sp>
        <p:nvSpPr>
          <p:cNvPr id="41987" name="Rectangle 6"/>
          <p:cNvSpPr>
            <a:spLocks noGrp="1" noChangeArrowheads="1"/>
          </p:cNvSpPr>
          <p:nvPr>
            <p:ph sz="quarter" idx="1"/>
          </p:nvPr>
        </p:nvSpPr>
        <p:spPr/>
        <p:txBody>
          <a:bodyPr/>
          <a:lstStyle/>
          <a:p>
            <a:pPr eaLnBrk="1" hangingPunct="1"/>
            <a:r>
              <a:rPr lang="en-US" sz="2400" smtClean="0"/>
              <a:t>Now click on the button that says, “Show complicated version.”   </a:t>
            </a:r>
          </a:p>
        </p:txBody>
      </p:sp>
      <p:pic>
        <p:nvPicPr>
          <p:cNvPr id="41990" name="Picture 12"/>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228600" y="3886200"/>
            <a:ext cx="4343400" cy="1371600"/>
          </a:xfrm>
        </p:spPr>
      </p:pic>
      <p:pic>
        <p:nvPicPr>
          <p:cNvPr id="41988" name="Picture 9"/>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4800600" y="1828800"/>
            <a:ext cx="4038600" cy="1725613"/>
          </a:xfrm>
        </p:spPr>
      </p:pic>
      <p:sp>
        <p:nvSpPr>
          <p:cNvPr id="41989" name="Rectangle 11"/>
          <p:cNvSpPr>
            <a:spLocks noGrp="1" noChangeArrowheads="1"/>
          </p:cNvSpPr>
          <p:nvPr>
            <p:ph sz="quarter" idx="4"/>
          </p:nvPr>
        </p:nvSpPr>
        <p:spPr>
          <a:xfrm>
            <a:off x="5105400" y="3733800"/>
            <a:ext cx="3657600" cy="2187575"/>
          </a:xfrm>
        </p:spPr>
        <p:txBody>
          <a:bodyPr>
            <a:normAutofit lnSpcReduction="10000"/>
          </a:bodyPr>
          <a:lstStyle/>
          <a:p>
            <a:pPr eaLnBrk="1" hangingPunct="1"/>
            <a:r>
              <a:rPr lang="en-US" sz="2400" smtClean="0"/>
              <a:t>Your loop should now look like this.</a:t>
            </a:r>
          </a:p>
          <a:p>
            <a:pPr eaLnBrk="1" hangingPunct="1"/>
            <a:r>
              <a:rPr lang="en-US" sz="2400" smtClean="0"/>
              <a:t>This means that it will loop through chickens in slots 0 – 5.</a:t>
            </a:r>
          </a:p>
        </p:txBody>
      </p:sp>
    </p:spTree>
    <p:extLst>
      <p:ext uri="{BB962C8B-B14F-4D97-AF65-F5344CB8AC3E}">
        <p14:creationId xmlns:p14="http://schemas.microsoft.com/office/powerpoint/2010/main" val="71935521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2" name="Picture 6"/>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152400" y="1752600"/>
            <a:ext cx="4343400" cy="3657600"/>
          </a:xfrm>
        </p:spPr>
      </p:pic>
      <p:sp>
        <p:nvSpPr>
          <p:cNvPr id="43011" name="Rectangle 5"/>
          <p:cNvSpPr>
            <a:spLocks noGrp="1" noChangeArrowheads="1"/>
          </p:cNvSpPr>
          <p:nvPr>
            <p:ph sz="half" idx="2"/>
          </p:nvPr>
        </p:nvSpPr>
        <p:spPr>
          <a:xfrm>
            <a:off x="4648200" y="1524000"/>
            <a:ext cx="4038600" cy="4525963"/>
          </a:xfrm>
        </p:spPr>
        <p:txBody>
          <a:bodyPr/>
          <a:lstStyle/>
          <a:p>
            <a:pPr eaLnBrk="1" hangingPunct="1"/>
            <a:r>
              <a:rPr lang="en-US" smtClean="0"/>
              <a:t>Now we will put a simple method in our world that tells “chicken” to move back 1 meter.</a:t>
            </a:r>
          </a:p>
        </p:txBody>
      </p:sp>
      <p:sp>
        <p:nvSpPr>
          <p:cNvPr id="43010" name="Rectangle 2"/>
          <p:cNvSpPr>
            <a:spLocks noGrp="1" noChangeArrowheads="1"/>
          </p:cNvSpPr>
          <p:nvPr>
            <p:ph type="title"/>
          </p:nvPr>
        </p:nvSpPr>
        <p:spPr/>
        <p:txBody>
          <a:bodyPr/>
          <a:lstStyle/>
          <a:p>
            <a:pPr eaLnBrk="1" hangingPunct="1"/>
            <a:r>
              <a:rPr lang="en-US" smtClean="0"/>
              <a:t>The Complicated Loop</a:t>
            </a:r>
          </a:p>
        </p:txBody>
      </p:sp>
    </p:spTree>
    <p:extLst>
      <p:ext uri="{BB962C8B-B14F-4D97-AF65-F5344CB8AC3E}">
        <p14:creationId xmlns:p14="http://schemas.microsoft.com/office/powerpoint/2010/main" val="138611676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4"/>
          <p:cNvSpPr>
            <a:spLocks noGrp="1" noChangeArrowheads="1"/>
          </p:cNvSpPr>
          <p:nvPr>
            <p:ph sz="half" idx="1"/>
          </p:nvPr>
        </p:nvSpPr>
        <p:spPr>
          <a:xfrm>
            <a:off x="381000" y="1600200"/>
            <a:ext cx="3276600" cy="4525963"/>
          </a:xfrm>
        </p:spPr>
        <p:txBody>
          <a:bodyPr>
            <a:normAutofit fontScale="92500" lnSpcReduction="10000"/>
          </a:bodyPr>
          <a:lstStyle/>
          <a:p>
            <a:pPr eaLnBrk="1" hangingPunct="1"/>
            <a:r>
              <a:rPr lang="en-US" sz="2400" smtClean="0"/>
              <a:t>Go to the functions tab of your Array visualization.</a:t>
            </a:r>
          </a:p>
          <a:p>
            <a:pPr eaLnBrk="1" hangingPunct="1"/>
            <a:r>
              <a:rPr lang="en-US" sz="2400" smtClean="0"/>
              <a:t>Drag the function labeled “the value at array visualization” over and drop it on top of “chicken.”</a:t>
            </a:r>
            <a:r>
              <a:rPr lang="en-US" smtClean="0"/>
              <a:t> </a:t>
            </a:r>
          </a:p>
          <a:p>
            <a:pPr eaLnBrk="1" hangingPunct="1"/>
            <a:r>
              <a:rPr lang="en-US" sz="2400" smtClean="0"/>
              <a:t>The number you pick doesn’t matter, it’s just a place holder.</a:t>
            </a:r>
          </a:p>
          <a:p>
            <a:pPr eaLnBrk="1" hangingPunct="1"/>
            <a:endParaRPr lang="en-US" smtClean="0"/>
          </a:p>
        </p:txBody>
      </p:sp>
      <p:pic>
        <p:nvPicPr>
          <p:cNvPr id="44036" name="Picture 6"/>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tretch>
            <a:fillRect/>
          </a:stretch>
        </p:blipFill>
        <p:spPr>
          <a:xfrm>
            <a:off x="4648200" y="2474559"/>
            <a:ext cx="4038600" cy="2539119"/>
          </a:xfrm>
        </p:spPr>
      </p:pic>
      <p:sp>
        <p:nvSpPr>
          <p:cNvPr id="44034" name="Rectangle 2"/>
          <p:cNvSpPr>
            <a:spLocks noGrp="1" noChangeArrowheads="1"/>
          </p:cNvSpPr>
          <p:nvPr>
            <p:ph type="title"/>
          </p:nvPr>
        </p:nvSpPr>
        <p:spPr/>
        <p:txBody>
          <a:bodyPr/>
          <a:lstStyle/>
          <a:p>
            <a:pPr eaLnBrk="1" hangingPunct="1"/>
            <a:r>
              <a:rPr lang="en-US" smtClean="0"/>
              <a:t>The Complicated Loop</a:t>
            </a:r>
          </a:p>
        </p:txBody>
      </p:sp>
    </p:spTree>
    <p:extLst>
      <p:ext uri="{BB962C8B-B14F-4D97-AF65-F5344CB8AC3E}">
        <p14:creationId xmlns:p14="http://schemas.microsoft.com/office/powerpoint/2010/main" val="290702635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4"/>
          <p:cNvSpPr>
            <a:spLocks noGrp="1" noChangeArrowheads="1"/>
          </p:cNvSpPr>
          <p:nvPr>
            <p:ph sz="half" idx="1"/>
          </p:nvPr>
        </p:nvSpPr>
        <p:spPr>
          <a:xfrm>
            <a:off x="304800" y="1219200"/>
            <a:ext cx="4038600" cy="1981200"/>
          </a:xfrm>
        </p:spPr>
        <p:txBody>
          <a:bodyPr>
            <a:normAutofit fontScale="92500" lnSpcReduction="10000"/>
          </a:bodyPr>
          <a:lstStyle/>
          <a:p>
            <a:pPr eaLnBrk="1" hangingPunct="1"/>
            <a:r>
              <a:rPr lang="en-US" smtClean="0"/>
              <a:t>Now take the “123 Index tab” and drop it over the number that was your place holder</a:t>
            </a:r>
          </a:p>
        </p:txBody>
      </p:sp>
      <p:pic>
        <p:nvPicPr>
          <p:cNvPr id="45060" name="Picture 6"/>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1066800" y="3886200"/>
            <a:ext cx="7543800" cy="2159000"/>
          </a:xfrm>
        </p:spPr>
      </p:pic>
      <p:sp>
        <p:nvSpPr>
          <p:cNvPr id="45058" name="Rectangle 2"/>
          <p:cNvSpPr>
            <a:spLocks noGrp="1" noChangeArrowheads="1"/>
          </p:cNvSpPr>
          <p:nvPr>
            <p:ph type="title"/>
          </p:nvPr>
        </p:nvSpPr>
        <p:spPr>
          <a:xfrm>
            <a:off x="457200" y="320040"/>
            <a:ext cx="7242048" cy="822960"/>
          </a:xfrm>
        </p:spPr>
        <p:txBody>
          <a:bodyPr/>
          <a:lstStyle/>
          <a:p>
            <a:pPr eaLnBrk="1" hangingPunct="1"/>
            <a:r>
              <a:rPr lang="en-US" dirty="0" smtClean="0"/>
              <a:t>The Complicated Loop</a:t>
            </a:r>
          </a:p>
        </p:txBody>
      </p:sp>
    </p:spTree>
    <p:extLst>
      <p:ext uri="{BB962C8B-B14F-4D97-AF65-F5344CB8AC3E}">
        <p14:creationId xmlns:p14="http://schemas.microsoft.com/office/powerpoint/2010/main" val="1128190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sz="quarter"/>
          </p:nvPr>
        </p:nvSpPr>
        <p:spPr/>
        <p:txBody>
          <a:bodyPr/>
          <a:lstStyle/>
          <a:p>
            <a:pPr eaLnBrk="1" hangingPunct="1"/>
            <a:r>
              <a:rPr lang="en-US" smtClean="0"/>
              <a:t>The Complicated Loop</a:t>
            </a:r>
          </a:p>
        </p:txBody>
      </p:sp>
      <p:sp>
        <p:nvSpPr>
          <p:cNvPr id="46083" name="Rectangle 4"/>
          <p:cNvSpPr>
            <a:spLocks noGrp="1" noChangeArrowheads="1"/>
          </p:cNvSpPr>
          <p:nvPr>
            <p:ph sz="quarter" idx="1"/>
          </p:nvPr>
        </p:nvSpPr>
        <p:spPr/>
        <p:txBody>
          <a:bodyPr/>
          <a:lstStyle/>
          <a:p>
            <a:pPr eaLnBrk="1" hangingPunct="1"/>
            <a:r>
              <a:rPr lang="en-US" sz="2400" smtClean="0"/>
              <a:t>Once you have done that try playing your “chickenmoveagain” method.</a:t>
            </a:r>
          </a:p>
        </p:txBody>
      </p:sp>
      <p:pic>
        <p:nvPicPr>
          <p:cNvPr id="46085" name="Picture 8"/>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3972476" y="1676400"/>
            <a:ext cx="5181600" cy="1228725"/>
          </a:xfrm>
        </p:spPr>
      </p:pic>
      <p:pic>
        <p:nvPicPr>
          <p:cNvPr id="46086" name="Picture 9"/>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tretch>
            <a:fillRect/>
          </a:stretch>
        </p:blipFill>
        <p:spPr>
          <a:xfrm>
            <a:off x="457200" y="4034015"/>
            <a:ext cx="4038600" cy="1996720"/>
          </a:xfrm>
        </p:spPr>
      </p:pic>
      <p:sp>
        <p:nvSpPr>
          <p:cNvPr id="46084" name="Rectangle 7"/>
          <p:cNvSpPr>
            <a:spLocks noGrp="1" noChangeArrowheads="1"/>
          </p:cNvSpPr>
          <p:nvPr>
            <p:ph sz="quarter" idx="4"/>
          </p:nvPr>
        </p:nvSpPr>
        <p:spPr/>
        <p:txBody>
          <a:bodyPr>
            <a:normAutofit fontScale="92500" lnSpcReduction="20000"/>
          </a:bodyPr>
          <a:lstStyle/>
          <a:p>
            <a:pPr eaLnBrk="1" hangingPunct="1"/>
            <a:r>
              <a:rPr lang="en-US" sz="2400" smtClean="0"/>
              <a:t>Your chickens should move back one at a time.</a:t>
            </a:r>
          </a:p>
          <a:p>
            <a:pPr eaLnBrk="1" hangingPunct="1"/>
            <a:r>
              <a:rPr lang="en-US" sz="2400" smtClean="0"/>
              <a:t>As you can see this greatly shortens the amount of code that you need to write methods with arrays.</a:t>
            </a:r>
          </a:p>
        </p:txBody>
      </p:sp>
    </p:spTree>
    <p:extLst>
      <p:ext uri="{BB962C8B-B14F-4D97-AF65-F5344CB8AC3E}">
        <p14:creationId xmlns:p14="http://schemas.microsoft.com/office/powerpoint/2010/main" val="23457506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en-US" smtClean="0"/>
              <a:t>The Complicated Loop</a:t>
            </a:r>
          </a:p>
        </p:txBody>
      </p:sp>
      <p:sp>
        <p:nvSpPr>
          <p:cNvPr id="47107" name="Rectangle 4"/>
          <p:cNvSpPr>
            <a:spLocks noGrp="1" noChangeArrowheads="1"/>
          </p:cNvSpPr>
          <p:nvPr>
            <p:ph sz="quarter" idx="1"/>
          </p:nvPr>
        </p:nvSpPr>
        <p:spPr>
          <a:xfrm>
            <a:off x="457200" y="1600200"/>
            <a:ext cx="7467600" cy="2185988"/>
          </a:xfrm>
        </p:spPr>
        <p:txBody>
          <a:bodyPr/>
          <a:lstStyle/>
          <a:p>
            <a:pPr eaLnBrk="1" hangingPunct="1"/>
            <a:r>
              <a:rPr lang="en-US" sz="2400" smtClean="0"/>
              <a:t>Make a copy of your loop and reverse the direction.</a:t>
            </a:r>
          </a:p>
          <a:p>
            <a:pPr eaLnBrk="1" hangingPunct="1"/>
            <a:r>
              <a:rPr lang="en-US" sz="2400" smtClean="0"/>
              <a:t>This time they should go forward. </a:t>
            </a:r>
          </a:p>
          <a:p>
            <a:pPr eaLnBrk="1" hangingPunct="1"/>
            <a:r>
              <a:rPr lang="en-US" sz="2400" smtClean="0"/>
              <a:t>Now try playing your world again</a:t>
            </a:r>
          </a:p>
        </p:txBody>
      </p:sp>
      <p:pic>
        <p:nvPicPr>
          <p:cNvPr id="47108" name="Picture 9"/>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304800" y="3810000"/>
            <a:ext cx="8305800" cy="2409825"/>
          </a:xfrm>
        </p:spPr>
      </p:pic>
    </p:spTree>
    <p:extLst>
      <p:ext uri="{BB962C8B-B14F-4D97-AF65-F5344CB8AC3E}">
        <p14:creationId xmlns:p14="http://schemas.microsoft.com/office/powerpoint/2010/main" val="170815032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sz="quarter"/>
          </p:nvPr>
        </p:nvSpPr>
        <p:spPr/>
        <p:txBody>
          <a:bodyPr/>
          <a:lstStyle/>
          <a:p>
            <a:pPr eaLnBrk="1" hangingPunct="1"/>
            <a:r>
              <a:rPr lang="en-US" smtClean="0"/>
              <a:t>The Complicated Loop</a:t>
            </a:r>
          </a:p>
        </p:txBody>
      </p:sp>
      <p:pic>
        <p:nvPicPr>
          <p:cNvPr id="48131" name="Picture 7"/>
          <p:cNvPicPr>
            <a:picLocks noGrp="1" noChangeAspect="1" noChangeArrowheads="1"/>
          </p:cNvPicPr>
          <p:nvPr>
            <p:ph sz="quarter" idx="1"/>
          </p:nvPr>
        </p:nvPicPr>
        <p:blipFill>
          <a:blip r:embed="rId3">
            <a:extLst>
              <a:ext uri="{28A0092B-C50C-407E-A947-70E740481C1C}">
                <a14:useLocalDpi xmlns:a14="http://schemas.microsoft.com/office/drawing/2010/main" val="0"/>
              </a:ext>
            </a:extLst>
          </a:blip>
          <a:stretch>
            <a:fillRect/>
          </a:stretch>
        </p:blipFill>
        <p:spPr>
          <a:xfrm>
            <a:off x="762000" y="3886200"/>
            <a:ext cx="4038600" cy="1384800"/>
          </a:xfrm>
        </p:spPr>
      </p:pic>
      <p:sp>
        <p:nvSpPr>
          <p:cNvPr id="48132" name="Rectangle 6"/>
          <p:cNvSpPr>
            <a:spLocks noGrp="1" noChangeArrowheads="1"/>
          </p:cNvSpPr>
          <p:nvPr>
            <p:ph sz="quarter" idx="2"/>
          </p:nvPr>
        </p:nvSpPr>
        <p:spPr/>
        <p:txBody>
          <a:bodyPr>
            <a:normAutofit lnSpcReduction="10000"/>
          </a:bodyPr>
          <a:lstStyle/>
          <a:p>
            <a:pPr eaLnBrk="1" hangingPunct="1"/>
            <a:r>
              <a:rPr lang="en-US" sz="2400" smtClean="0"/>
              <a:t>Now lets make the animation a little bit more fun by speeding it up and putting a loop around the entire thing.</a:t>
            </a:r>
          </a:p>
        </p:txBody>
      </p:sp>
      <p:sp>
        <p:nvSpPr>
          <p:cNvPr id="48133" name="Rectangle 9"/>
          <p:cNvSpPr>
            <a:spLocks noGrp="1" noChangeArrowheads="1"/>
          </p:cNvSpPr>
          <p:nvPr>
            <p:ph sz="quarter" idx="3"/>
          </p:nvPr>
        </p:nvSpPr>
        <p:spPr>
          <a:xfrm>
            <a:off x="533400" y="1524000"/>
            <a:ext cx="2590800" cy="2187575"/>
          </a:xfrm>
        </p:spPr>
        <p:txBody>
          <a:bodyPr/>
          <a:lstStyle/>
          <a:p>
            <a:pPr eaLnBrk="1" hangingPunct="1"/>
            <a:r>
              <a:rPr lang="en-US" sz="2400" smtClean="0"/>
              <a:t>Play your complete method when you are done.</a:t>
            </a:r>
          </a:p>
        </p:txBody>
      </p:sp>
    </p:spTree>
    <p:extLst>
      <p:ext uri="{BB962C8B-B14F-4D97-AF65-F5344CB8AC3E}">
        <p14:creationId xmlns:p14="http://schemas.microsoft.com/office/powerpoint/2010/main" val="29839655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6" name="Picture 7"/>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tretch>
            <a:fillRect/>
          </a:stretch>
        </p:blipFill>
        <p:spPr>
          <a:xfrm>
            <a:off x="990785" y="3020118"/>
            <a:ext cx="2971429" cy="1448002"/>
          </a:xfrm>
        </p:spPr>
      </p:pic>
      <p:sp>
        <p:nvSpPr>
          <p:cNvPr id="49155" name="Rectangle 5"/>
          <p:cNvSpPr>
            <a:spLocks noGrp="1" noChangeArrowheads="1"/>
          </p:cNvSpPr>
          <p:nvPr>
            <p:ph sz="half" idx="2"/>
          </p:nvPr>
        </p:nvSpPr>
        <p:spPr>
          <a:xfrm>
            <a:off x="990600" y="1600201"/>
            <a:ext cx="6708648" cy="1981200"/>
          </a:xfrm>
        </p:spPr>
        <p:txBody>
          <a:bodyPr>
            <a:normAutofit/>
          </a:bodyPr>
          <a:lstStyle/>
          <a:p>
            <a:pPr eaLnBrk="1" hangingPunct="1"/>
            <a:r>
              <a:rPr lang="en-US" dirty="0" smtClean="0"/>
              <a:t>Now lets put this new method inside of </a:t>
            </a:r>
            <a:r>
              <a:rPr lang="en-US" dirty="0" err="1" smtClean="0"/>
              <a:t>world.myfirstmethod</a:t>
            </a:r>
            <a:r>
              <a:rPr lang="en-US" dirty="0" smtClean="0"/>
              <a:t>.</a:t>
            </a:r>
          </a:p>
          <a:p>
            <a:pPr eaLnBrk="1" hangingPunct="1"/>
            <a:r>
              <a:rPr lang="en-US" dirty="0" smtClean="0"/>
              <a:t>Watch your chickens dance.</a:t>
            </a:r>
          </a:p>
        </p:txBody>
      </p:sp>
      <p:sp>
        <p:nvSpPr>
          <p:cNvPr id="49154" name="Rectangle 2"/>
          <p:cNvSpPr>
            <a:spLocks noGrp="1" noChangeArrowheads="1"/>
          </p:cNvSpPr>
          <p:nvPr>
            <p:ph type="title"/>
          </p:nvPr>
        </p:nvSpPr>
        <p:spPr/>
        <p:txBody>
          <a:bodyPr/>
          <a:lstStyle/>
          <a:p>
            <a:pPr eaLnBrk="1" hangingPunct="1"/>
            <a:r>
              <a:rPr lang="en-US" smtClean="0"/>
              <a:t>The Complicated Loop</a:t>
            </a:r>
          </a:p>
        </p:txBody>
      </p:sp>
    </p:spTree>
    <p:extLst>
      <p:ext uri="{BB962C8B-B14F-4D97-AF65-F5344CB8AC3E}">
        <p14:creationId xmlns:p14="http://schemas.microsoft.com/office/powerpoint/2010/main" val="196548260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3"/>
          <p:cNvSpPr>
            <a:spLocks noGrp="1" noChangeArrowheads="1"/>
          </p:cNvSpPr>
          <p:nvPr>
            <p:ph idx="1"/>
          </p:nvPr>
        </p:nvSpPr>
        <p:spPr/>
        <p:txBody>
          <a:bodyPr/>
          <a:lstStyle/>
          <a:p>
            <a:pPr eaLnBrk="1" hangingPunct="1"/>
            <a:r>
              <a:rPr lang="en-US" smtClean="0"/>
              <a:t>To finish up we are going to review lists and have the chickens bow. </a:t>
            </a:r>
          </a:p>
          <a:p>
            <a:pPr eaLnBrk="1" hangingPunct="1"/>
            <a:r>
              <a:rPr lang="en-US" smtClean="0"/>
              <a:t>Create a new method under chicken and name it “Chicken.Bow” </a:t>
            </a:r>
          </a:p>
          <a:p>
            <a:pPr eaLnBrk="1" hangingPunct="1">
              <a:buFontTx/>
              <a:buNone/>
            </a:pPr>
            <a:endParaRPr lang="en-US" smtClean="0"/>
          </a:p>
        </p:txBody>
      </p:sp>
      <p:sp>
        <p:nvSpPr>
          <p:cNvPr id="50178" name="Rectangle 2"/>
          <p:cNvSpPr>
            <a:spLocks noGrp="1" noChangeArrowheads="1"/>
          </p:cNvSpPr>
          <p:nvPr>
            <p:ph type="title"/>
          </p:nvPr>
        </p:nvSpPr>
        <p:spPr/>
        <p:txBody>
          <a:bodyPr/>
          <a:lstStyle/>
          <a:p>
            <a:pPr eaLnBrk="1" hangingPunct="1"/>
            <a:r>
              <a:rPr lang="en-US" smtClean="0"/>
              <a:t>Finishing touches</a:t>
            </a:r>
          </a:p>
        </p:txBody>
      </p:sp>
      <p:pic>
        <p:nvPicPr>
          <p:cNvPr id="5018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3843338"/>
            <a:ext cx="6477000" cy="278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3213557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4"/>
          <p:cNvSpPr>
            <a:spLocks noGrp="1" noChangeArrowheads="1"/>
          </p:cNvSpPr>
          <p:nvPr>
            <p:ph sz="half" idx="1"/>
          </p:nvPr>
        </p:nvSpPr>
        <p:spPr>
          <a:xfrm>
            <a:off x="2286000" y="1371600"/>
            <a:ext cx="4038600" cy="2514600"/>
          </a:xfrm>
        </p:spPr>
        <p:txBody>
          <a:bodyPr/>
          <a:lstStyle/>
          <a:p>
            <a:pPr eaLnBrk="1" hangingPunct="1"/>
            <a:r>
              <a:rPr lang="en-US" dirty="0" smtClean="0"/>
              <a:t>We will now code the chicken to turn forward 0.2 revolutions.</a:t>
            </a:r>
          </a:p>
        </p:txBody>
      </p:sp>
      <p:pic>
        <p:nvPicPr>
          <p:cNvPr id="51204" name="Picture 6"/>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1600200" y="3824288"/>
            <a:ext cx="5829300" cy="2043112"/>
          </a:xfrm>
        </p:spPr>
      </p:pic>
      <p:sp>
        <p:nvSpPr>
          <p:cNvPr id="51202" name="Rectangle 2"/>
          <p:cNvSpPr>
            <a:spLocks noGrp="1" noChangeArrowheads="1"/>
          </p:cNvSpPr>
          <p:nvPr>
            <p:ph type="title"/>
          </p:nvPr>
        </p:nvSpPr>
        <p:spPr>
          <a:xfrm>
            <a:off x="457200" y="320040"/>
            <a:ext cx="7242048" cy="899160"/>
          </a:xfrm>
        </p:spPr>
        <p:txBody>
          <a:bodyPr/>
          <a:lstStyle/>
          <a:p>
            <a:pPr eaLnBrk="1" hangingPunct="1"/>
            <a:r>
              <a:rPr lang="en-US" dirty="0" smtClean="0"/>
              <a:t>Finishing Touches</a:t>
            </a:r>
          </a:p>
        </p:txBody>
      </p:sp>
    </p:spTree>
    <p:extLst>
      <p:ext uri="{BB962C8B-B14F-4D97-AF65-F5344CB8AC3E}">
        <p14:creationId xmlns:p14="http://schemas.microsoft.com/office/powerpoint/2010/main" val="261403642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5"/>
          <p:cNvSpPr>
            <a:spLocks noGrp="1" noChangeArrowheads="1"/>
          </p:cNvSpPr>
          <p:nvPr>
            <p:ph sz="half" idx="1"/>
          </p:nvPr>
        </p:nvSpPr>
        <p:spPr>
          <a:xfrm>
            <a:off x="228600" y="1371600"/>
            <a:ext cx="3124200" cy="4525963"/>
          </a:xfrm>
        </p:spPr>
        <p:txBody>
          <a:bodyPr/>
          <a:lstStyle/>
          <a:p>
            <a:pPr eaLnBrk="1" hangingPunct="1"/>
            <a:r>
              <a:rPr lang="en-US" smtClean="0"/>
              <a:t>Go to functions and find “parts named key.” </a:t>
            </a:r>
          </a:p>
          <a:p>
            <a:pPr eaLnBrk="1" hangingPunct="1"/>
            <a:r>
              <a:rPr lang="en-US" smtClean="0"/>
              <a:t>Drag it on top of chicken</a:t>
            </a:r>
          </a:p>
        </p:txBody>
      </p:sp>
      <p:sp>
        <p:nvSpPr>
          <p:cNvPr id="52226" name="Rectangle 2"/>
          <p:cNvSpPr>
            <a:spLocks noGrp="1" noChangeArrowheads="1"/>
          </p:cNvSpPr>
          <p:nvPr>
            <p:ph type="title"/>
          </p:nvPr>
        </p:nvSpPr>
        <p:spPr>
          <a:xfrm>
            <a:off x="457200" y="320040"/>
            <a:ext cx="7242048" cy="899160"/>
          </a:xfrm>
        </p:spPr>
        <p:txBody>
          <a:bodyPr/>
          <a:lstStyle/>
          <a:p>
            <a:pPr eaLnBrk="1" hangingPunct="1"/>
            <a:r>
              <a:rPr lang="en-US" dirty="0" smtClean="0"/>
              <a:t>Finishing Touches</a:t>
            </a:r>
          </a:p>
        </p:txBody>
      </p:sp>
      <p:pic>
        <p:nvPicPr>
          <p:cNvPr id="522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2895600"/>
            <a:ext cx="5514975" cy="337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4000167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4"/>
          <p:cNvSpPr>
            <a:spLocks noGrp="1" noChangeArrowheads="1"/>
          </p:cNvSpPr>
          <p:nvPr>
            <p:ph sz="half" idx="1"/>
          </p:nvPr>
        </p:nvSpPr>
        <p:spPr>
          <a:xfrm>
            <a:off x="304800" y="1752600"/>
            <a:ext cx="4038600" cy="1828800"/>
          </a:xfrm>
        </p:spPr>
        <p:txBody>
          <a:bodyPr>
            <a:normAutofit lnSpcReduction="10000"/>
          </a:bodyPr>
          <a:lstStyle/>
          <a:p>
            <a:pPr eaLnBrk="1" hangingPunct="1"/>
            <a:r>
              <a:rPr lang="en-US" dirty="0" smtClean="0"/>
              <a:t>Name the part “Neck”</a:t>
            </a:r>
          </a:p>
          <a:p>
            <a:pPr eaLnBrk="1" hangingPunct="1"/>
            <a:r>
              <a:rPr lang="en-US" dirty="0" smtClean="0"/>
              <a:t>Make sure the syntax is correct.</a:t>
            </a:r>
          </a:p>
        </p:txBody>
      </p:sp>
      <p:pic>
        <p:nvPicPr>
          <p:cNvPr id="53252" name="Picture 6"/>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2514600" y="3657600"/>
            <a:ext cx="5943600" cy="2763838"/>
          </a:xfrm>
        </p:spPr>
      </p:pic>
      <p:sp>
        <p:nvSpPr>
          <p:cNvPr id="53250" name="Rectangle 2"/>
          <p:cNvSpPr>
            <a:spLocks noGrp="1" noChangeArrowheads="1"/>
          </p:cNvSpPr>
          <p:nvPr>
            <p:ph type="title"/>
          </p:nvPr>
        </p:nvSpPr>
        <p:spPr/>
        <p:txBody>
          <a:bodyPr/>
          <a:lstStyle/>
          <a:p>
            <a:pPr eaLnBrk="1" hangingPunct="1"/>
            <a:r>
              <a:rPr lang="en-US" smtClean="0"/>
              <a:t>Finishing Touches </a:t>
            </a:r>
          </a:p>
        </p:txBody>
      </p:sp>
    </p:spTree>
    <p:extLst>
      <p:ext uri="{BB962C8B-B14F-4D97-AF65-F5344CB8AC3E}">
        <p14:creationId xmlns:p14="http://schemas.microsoft.com/office/powerpoint/2010/main" val="191849100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4"/>
          <p:cNvSpPr>
            <a:spLocks noGrp="1" noChangeArrowheads="1"/>
          </p:cNvSpPr>
          <p:nvPr>
            <p:ph sz="half" idx="1"/>
          </p:nvPr>
        </p:nvSpPr>
        <p:spPr>
          <a:xfrm>
            <a:off x="533400" y="1371600"/>
            <a:ext cx="4038600" cy="1828800"/>
          </a:xfrm>
        </p:spPr>
        <p:txBody>
          <a:bodyPr>
            <a:normAutofit fontScale="92500" lnSpcReduction="20000"/>
          </a:bodyPr>
          <a:lstStyle/>
          <a:p>
            <a:pPr eaLnBrk="1" hangingPunct="1"/>
            <a:r>
              <a:rPr lang="en-US" smtClean="0"/>
              <a:t>Create a parameter and name it “WhichChicken”</a:t>
            </a:r>
          </a:p>
          <a:p>
            <a:pPr eaLnBrk="1" hangingPunct="1"/>
            <a:r>
              <a:rPr lang="en-US" smtClean="0"/>
              <a:t>Make sure its an object parameter</a:t>
            </a:r>
          </a:p>
        </p:txBody>
      </p:sp>
      <p:pic>
        <p:nvPicPr>
          <p:cNvPr id="54276" name="Picture 6"/>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762000" y="3886200"/>
            <a:ext cx="6553200" cy="2735263"/>
          </a:xfrm>
        </p:spPr>
      </p:pic>
      <p:sp>
        <p:nvSpPr>
          <p:cNvPr id="54274" name="Rectangle 2"/>
          <p:cNvSpPr>
            <a:spLocks noGrp="1" noChangeArrowheads="1"/>
          </p:cNvSpPr>
          <p:nvPr>
            <p:ph type="title"/>
          </p:nvPr>
        </p:nvSpPr>
        <p:spPr>
          <a:xfrm>
            <a:off x="457200" y="320040"/>
            <a:ext cx="7242048" cy="975360"/>
          </a:xfrm>
        </p:spPr>
        <p:txBody>
          <a:bodyPr/>
          <a:lstStyle/>
          <a:p>
            <a:pPr eaLnBrk="1" hangingPunct="1"/>
            <a:r>
              <a:rPr lang="en-US" dirty="0" smtClean="0"/>
              <a:t>Finishing Touches</a:t>
            </a:r>
          </a:p>
        </p:txBody>
      </p:sp>
    </p:spTree>
    <p:extLst>
      <p:ext uri="{BB962C8B-B14F-4D97-AF65-F5344CB8AC3E}">
        <p14:creationId xmlns:p14="http://schemas.microsoft.com/office/powerpoint/2010/main" val="363161373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sz="quarter"/>
          </p:nvPr>
        </p:nvSpPr>
        <p:spPr>
          <a:xfrm>
            <a:off x="457200" y="274638"/>
            <a:ext cx="8229600" cy="868362"/>
          </a:xfrm>
        </p:spPr>
        <p:txBody>
          <a:bodyPr/>
          <a:lstStyle/>
          <a:p>
            <a:pPr eaLnBrk="1" hangingPunct="1"/>
            <a:r>
              <a:rPr lang="en-US" dirty="0" smtClean="0"/>
              <a:t>Finishing Touches</a:t>
            </a:r>
          </a:p>
        </p:txBody>
      </p:sp>
      <p:sp>
        <p:nvSpPr>
          <p:cNvPr id="55299" name="Rectangle 4"/>
          <p:cNvSpPr>
            <a:spLocks noGrp="1" noChangeArrowheads="1"/>
          </p:cNvSpPr>
          <p:nvPr>
            <p:ph sz="quarter" idx="1"/>
          </p:nvPr>
        </p:nvSpPr>
        <p:spPr>
          <a:xfrm>
            <a:off x="609600" y="1295400"/>
            <a:ext cx="4038600" cy="2185988"/>
          </a:xfrm>
        </p:spPr>
        <p:txBody>
          <a:bodyPr/>
          <a:lstStyle/>
          <a:p>
            <a:pPr eaLnBrk="1" hangingPunct="1"/>
            <a:r>
              <a:rPr lang="en-US" sz="2400" smtClean="0"/>
              <a:t>Finally, call your bow method at the end of “world.myfirstmethod.” </a:t>
            </a:r>
          </a:p>
          <a:p>
            <a:pPr eaLnBrk="1" hangingPunct="1"/>
            <a:r>
              <a:rPr lang="en-US" sz="2400" smtClean="0"/>
              <a:t>Play your world</a:t>
            </a:r>
          </a:p>
          <a:p>
            <a:pPr eaLnBrk="1" hangingPunct="1"/>
            <a:r>
              <a:rPr lang="en-US" sz="2400" i="1" smtClean="0"/>
              <a:t>That’s all folks!!!!!!!!!</a:t>
            </a:r>
          </a:p>
        </p:txBody>
      </p:sp>
      <p:pic>
        <p:nvPicPr>
          <p:cNvPr id="55300" name="Picture 8"/>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tretch>
            <a:fillRect/>
          </a:stretch>
        </p:blipFill>
        <p:spPr>
          <a:xfrm>
            <a:off x="4648200" y="1793368"/>
            <a:ext cx="4038600" cy="1799652"/>
          </a:xfrm>
        </p:spPr>
      </p:pic>
    </p:spTree>
    <p:extLst>
      <p:ext uri="{BB962C8B-B14F-4D97-AF65-F5344CB8AC3E}">
        <p14:creationId xmlns:p14="http://schemas.microsoft.com/office/powerpoint/2010/main" val="42535583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3"/>
          <p:cNvSpPr>
            <a:spLocks noGrp="1" noChangeArrowheads="1"/>
          </p:cNvSpPr>
          <p:nvPr>
            <p:ph idx="1"/>
          </p:nvPr>
        </p:nvSpPr>
        <p:spPr/>
        <p:txBody>
          <a:bodyPr>
            <a:normAutofit fontScale="92500"/>
          </a:bodyPr>
          <a:lstStyle/>
          <a:p>
            <a:pPr eaLnBrk="1" hangingPunct="1">
              <a:lnSpc>
                <a:spcPct val="90000"/>
              </a:lnSpc>
            </a:pPr>
            <a:r>
              <a:rPr lang="en-US" sz="2800" smtClean="0"/>
              <a:t>When we put all of these elements together you can see how Lists and Arrays can be used interchangeably to animate your Alice world.</a:t>
            </a:r>
          </a:p>
          <a:p>
            <a:pPr eaLnBrk="1" hangingPunct="1">
              <a:lnSpc>
                <a:spcPct val="90000"/>
              </a:lnSpc>
            </a:pPr>
            <a:r>
              <a:rPr lang="en-US" sz="2800" smtClean="0"/>
              <a:t>The ‘For all together’ command in Lists allows you to animate a group of objects to do something together.</a:t>
            </a:r>
          </a:p>
          <a:p>
            <a:pPr eaLnBrk="1" hangingPunct="1">
              <a:lnSpc>
                <a:spcPct val="90000"/>
              </a:lnSpc>
            </a:pPr>
            <a:r>
              <a:rPr lang="en-US" sz="2800" smtClean="0"/>
              <a:t>The ‘For all in order’ command in Lists allows you to animate the whole group of objects to do the same thing, but one at a time.</a:t>
            </a:r>
          </a:p>
          <a:p>
            <a:pPr eaLnBrk="1" hangingPunct="1">
              <a:lnSpc>
                <a:spcPct val="90000"/>
              </a:lnSpc>
            </a:pPr>
            <a:r>
              <a:rPr lang="en-US" sz="2800" smtClean="0"/>
              <a:t>The Array allows you to have a group of objects do different things.</a:t>
            </a:r>
          </a:p>
        </p:txBody>
      </p:sp>
      <p:sp>
        <p:nvSpPr>
          <p:cNvPr id="56322" name="Rectangle 2"/>
          <p:cNvSpPr>
            <a:spLocks noGrp="1" noChangeArrowheads="1"/>
          </p:cNvSpPr>
          <p:nvPr>
            <p:ph type="title"/>
          </p:nvPr>
        </p:nvSpPr>
        <p:spPr/>
        <p:txBody>
          <a:bodyPr/>
          <a:lstStyle/>
          <a:p>
            <a:pPr eaLnBrk="1" hangingPunct="1"/>
            <a:r>
              <a:rPr lang="en-US" smtClean="0"/>
              <a:t>Recap</a:t>
            </a:r>
          </a:p>
        </p:txBody>
      </p:sp>
    </p:spTree>
    <p:extLst>
      <p:ext uri="{BB962C8B-B14F-4D97-AF65-F5344CB8AC3E}">
        <p14:creationId xmlns:p14="http://schemas.microsoft.com/office/powerpoint/2010/main" val="336510631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2</TotalTime>
  <Words>2045</Words>
  <Application>Microsoft Office PowerPoint</Application>
  <PresentationFormat>On-screen Show (4:3)</PresentationFormat>
  <Paragraphs>251</Paragraphs>
  <Slides>53</Slides>
  <Notes>53</Notes>
  <HiddenSlides>0</HiddenSlides>
  <MMClips>0</MMClips>
  <ScaleCrop>false</ScaleCrop>
  <HeadingPairs>
    <vt:vector size="4" baseType="variant">
      <vt:variant>
        <vt:lpstr>Theme</vt:lpstr>
      </vt:variant>
      <vt:variant>
        <vt:i4>1</vt:i4>
      </vt:variant>
      <vt:variant>
        <vt:lpstr>Slide Titles</vt:lpstr>
      </vt:variant>
      <vt:variant>
        <vt:i4>53</vt:i4>
      </vt:variant>
    </vt:vector>
  </HeadingPairs>
  <TitlesOfParts>
    <vt:vector size="54" baseType="lpstr">
      <vt:lpstr>Concourse</vt:lpstr>
      <vt:lpstr>Tutorial for Arrays and Lists</vt:lpstr>
      <vt:lpstr>The Characters</vt:lpstr>
      <vt:lpstr>Setting up the background</vt:lpstr>
      <vt:lpstr>Setting up the Background</vt:lpstr>
      <vt:lpstr>Setting up the Background</vt:lpstr>
      <vt:lpstr>Animating the chickens</vt:lpstr>
      <vt:lpstr>Getting Started </vt:lpstr>
      <vt:lpstr>Side Note</vt:lpstr>
      <vt:lpstr>Making a List</vt:lpstr>
      <vt:lpstr>Making a List </vt:lpstr>
      <vt:lpstr>Lists</vt:lpstr>
      <vt:lpstr>Lists</vt:lpstr>
      <vt:lpstr>Lists</vt:lpstr>
      <vt:lpstr>Lists</vt:lpstr>
      <vt:lpstr>Lists</vt:lpstr>
      <vt:lpstr>Lists</vt:lpstr>
      <vt:lpstr>Part named Key</vt:lpstr>
      <vt:lpstr>Part Named Key</vt:lpstr>
      <vt:lpstr>Part named key conclusion</vt:lpstr>
      <vt:lpstr>Lists</vt:lpstr>
      <vt:lpstr>Lists</vt:lpstr>
      <vt:lpstr>Side note on List Visualizations</vt:lpstr>
      <vt:lpstr>Arrays</vt:lpstr>
      <vt:lpstr>Starting the Array</vt:lpstr>
      <vt:lpstr>Starting the Array</vt:lpstr>
      <vt:lpstr>Array continued</vt:lpstr>
      <vt:lpstr>Arrays</vt:lpstr>
      <vt:lpstr>Arrays Continued</vt:lpstr>
      <vt:lpstr>Arrays Continued</vt:lpstr>
      <vt:lpstr>Array Continued</vt:lpstr>
      <vt:lpstr>Complete Turn to Face Code</vt:lpstr>
      <vt:lpstr>More with Arrays</vt:lpstr>
      <vt:lpstr>Getting Chickens to do Different Things</vt:lpstr>
      <vt:lpstr>Arrays Continued</vt:lpstr>
      <vt:lpstr>Arrays</vt:lpstr>
      <vt:lpstr>Arrays</vt:lpstr>
      <vt:lpstr>The Complicated Loop</vt:lpstr>
      <vt:lpstr>The Complicated Loop</vt:lpstr>
      <vt:lpstr>The Complicated Loop</vt:lpstr>
      <vt:lpstr>The Complicated Loop</vt:lpstr>
      <vt:lpstr>The Complicated Loop</vt:lpstr>
      <vt:lpstr>The Complicated Loop</vt:lpstr>
      <vt:lpstr>The Complicated Loop</vt:lpstr>
      <vt:lpstr>The Complicated Loop</vt:lpstr>
      <vt:lpstr>The Complicated Loop</vt:lpstr>
      <vt:lpstr>The Complicated Loop</vt:lpstr>
      <vt:lpstr>Finishing touches</vt:lpstr>
      <vt:lpstr>Finishing Touches</vt:lpstr>
      <vt:lpstr>Finishing Touches</vt:lpstr>
      <vt:lpstr>Finishing Touches </vt:lpstr>
      <vt:lpstr>Finishing Touches</vt:lpstr>
      <vt:lpstr>Finishing Touches</vt:lpstr>
      <vt:lpstr>Recap</vt:lpstr>
    </vt:vector>
  </TitlesOfParts>
  <Company>Brown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Tutorial for Arrays and Lists</dc:title>
  <dc:creator>Elyse McManus</dc:creator>
  <cp:lastModifiedBy>Elyse McManus</cp:lastModifiedBy>
  <cp:revision>1</cp:revision>
  <dcterms:created xsi:type="dcterms:W3CDTF">2012-06-29T14:14:50Z</dcterms:created>
  <dcterms:modified xsi:type="dcterms:W3CDTF">2012-06-29T14:16:54Z</dcterms:modified>
</cp:coreProperties>
</file>